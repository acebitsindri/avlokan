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19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237116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43860"/>
          </a:solidFill>
          <a:ln w="12700">
            <a:solidFill>
              <a:srgbClr val="2438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87552"/>
            <a:ext cx="12188952" cy="54864"/>
          </a:xfrm>
          <a:prstGeom prst="rect">
            <a:avLst/>
          </a:prstGeom>
          <a:solidFill>
            <a:srgbClr val="D4940A"/>
          </a:solidFill>
          <a:ln w="12700">
            <a:solidFill>
              <a:srgbClr val="D4940A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91440"/>
            <a:ext cx="777240" cy="749808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83112" y="91440"/>
            <a:ext cx="777240" cy="74980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097280" y="73152"/>
            <a:ext cx="9994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BIRSA INSTITUTE OF TECHNOLOGY SINDRI, DHANBAD — JHARKHAND</a:t>
            </a:r>
            <a:endParaRPr lang="en-US" sz="1000" dirty="0"/>
          </a:p>
        </p:txBody>
      </p:sp>
      <p:sp>
        <p:nvSpPr>
          <p:cNvPr id="7" name="Text 3"/>
          <p:cNvSpPr/>
          <p:nvPr/>
        </p:nvSpPr>
        <p:spPr>
          <a:xfrm>
            <a:off x="1097280" y="329184"/>
            <a:ext cx="99943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5E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 OF CIVIL ENGINEERING  ·  Estd. 1949  ·  Jharkhand University of Technology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1097280" y="548640"/>
            <a:ext cx="99943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0C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Association of Civil Engineers (ACE)  ·  AVLOKAN 2026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457200" y="1115568"/>
            <a:ext cx="112745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0" b="1" kern="0" spc="600" dirty="0">
                <a:solidFill>
                  <a:srgbClr val="F0C0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AVLOKAN</a:t>
            </a:r>
            <a:endParaRPr lang="en-US" sz="7200" dirty="0"/>
          </a:p>
        </p:txBody>
      </p:sp>
      <p:sp>
        <p:nvSpPr>
          <p:cNvPr id="10" name="Shape 6"/>
          <p:cNvSpPr/>
          <p:nvPr/>
        </p:nvSpPr>
        <p:spPr>
          <a:xfrm>
            <a:off x="1371600" y="1993392"/>
            <a:ext cx="9445752" cy="566928"/>
          </a:xfrm>
          <a:prstGeom prst="rect">
            <a:avLst/>
          </a:prstGeom>
          <a:solidFill>
            <a:srgbClr val="D4940A"/>
          </a:solidFill>
          <a:ln w="12700">
            <a:solidFill>
              <a:srgbClr val="D4940A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1371600" y="1993392"/>
            <a:ext cx="94457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2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HACKATHON </a:t>
            </a:r>
            <a:r>
              <a:rPr lang="en-US" sz="1600" b="1" kern="0" spc="200" dirty="0" smtClean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2026—IDEA </a:t>
            </a:r>
            <a:r>
              <a:rPr lang="en-US" sz="1600" b="1" kern="0" spc="2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SUBMISSION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1371600" y="2578608"/>
            <a:ext cx="9445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5E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Official Project Idea Submission Template — Elimination Round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365760" y="2967228"/>
            <a:ext cx="3566160" cy="822960"/>
          </a:xfrm>
          <a:prstGeom prst="rect">
            <a:avLst/>
          </a:prstGeom>
          <a:solidFill>
            <a:srgbClr val="FFFFFF">
              <a:alpha val="88000"/>
            </a:srgbClr>
          </a:solidFill>
          <a:ln w="19050">
            <a:solidFill>
              <a:srgbClr val="D4940A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365760" y="2944368"/>
            <a:ext cx="3566160" cy="219456"/>
          </a:xfrm>
          <a:prstGeom prst="rect">
            <a:avLst/>
          </a:prstGeom>
          <a:solidFill>
            <a:srgbClr val="2E4A78"/>
          </a:solidFill>
          <a:ln w="12700">
            <a:solidFill>
              <a:srgbClr val="2E4A78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438912" y="2944368"/>
            <a:ext cx="34198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 No.</a:t>
            </a:r>
            <a:endParaRPr lang="en-US" sz="850" dirty="0"/>
          </a:p>
        </p:txBody>
      </p:sp>
      <p:sp>
        <p:nvSpPr>
          <p:cNvPr id="16" name="Text 12"/>
          <p:cNvSpPr/>
          <p:nvPr/>
        </p:nvSpPr>
        <p:spPr>
          <a:xfrm>
            <a:off x="457200" y="3172968"/>
            <a:ext cx="34015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e.g.  01,  07,  23</a:t>
            </a:r>
            <a:endParaRPr lang="en-US" sz="950" dirty="0"/>
          </a:p>
          <a:p>
            <a:pPr marL="0" indent="0" algn="l">
              <a:buNone/>
            </a:pPr>
            <a:r>
              <a:rPr lang="en-US" sz="95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(as per PSB booklet)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4297680" y="2944368"/>
            <a:ext cx="3566160" cy="822960"/>
          </a:xfrm>
          <a:prstGeom prst="rect">
            <a:avLst/>
          </a:prstGeom>
          <a:solidFill>
            <a:srgbClr val="FFFFFF">
              <a:alpha val="88000"/>
            </a:srgbClr>
          </a:solidFill>
          <a:ln w="19050">
            <a:solidFill>
              <a:srgbClr val="D4940A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4297680" y="2944368"/>
            <a:ext cx="3566160" cy="219456"/>
          </a:xfrm>
          <a:prstGeom prst="rect">
            <a:avLst/>
          </a:prstGeom>
          <a:solidFill>
            <a:srgbClr val="2E4A78"/>
          </a:solidFill>
          <a:ln w="12700">
            <a:solidFill>
              <a:srgbClr val="2E4A78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4370832" y="2944368"/>
            <a:ext cx="34198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Code &amp; Name</a:t>
            </a:r>
            <a:endParaRPr lang="en-US" sz="850" dirty="0"/>
          </a:p>
        </p:txBody>
      </p:sp>
      <p:sp>
        <p:nvSpPr>
          <p:cNvPr id="20" name="Text 16"/>
          <p:cNvSpPr/>
          <p:nvPr/>
        </p:nvSpPr>
        <p:spPr>
          <a:xfrm>
            <a:off x="4389120" y="3172968"/>
            <a:ext cx="34015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e.g.  TRK-A  —  Smart Infrastructure</a:t>
            </a:r>
            <a:endParaRPr lang="en-US" sz="950" dirty="0"/>
          </a:p>
          <a:p>
            <a:pPr marL="0" indent="0" algn="l">
              <a:buNone/>
            </a:pPr>
            <a:r>
              <a:rPr lang="en-US" sz="95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&amp; Transportation </a:t>
            </a:r>
            <a:r>
              <a:rPr lang="en-US" sz="950" i="1" dirty="0" smtClean="0"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950" dirty="0"/>
          </a:p>
        </p:txBody>
      </p:sp>
      <p:sp>
        <p:nvSpPr>
          <p:cNvPr id="21" name="Shape 17"/>
          <p:cNvSpPr/>
          <p:nvPr/>
        </p:nvSpPr>
        <p:spPr>
          <a:xfrm>
            <a:off x="8229600" y="2944368"/>
            <a:ext cx="3566160" cy="822960"/>
          </a:xfrm>
          <a:prstGeom prst="rect">
            <a:avLst/>
          </a:prstGeom>
          <a:solidFill>
            <a:srgbClr val="FFFFFF">
              <a:alpha val="88000"/>
            </a:srgbClr>
          </a:solidFill>
          <a:ln w="19050">
            <a:solidFill>
              <a:srgbClr val="D4940A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8229600" y="2944368"/>
            <a:ext cx="3566160" cy="219456"/>
          </a:xfrm>
          <a:prstGeom prst="rect">
            <a:avLst/>
          </a:prstGeom>
          <a:solidFill>
            <a:srgbClr val="2E4A78"/>
          </a:solidFill>
          <a:ln w="12700">
            <a:solidFill>
              <a:srgbClr val="2E4A78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8302752" y="2944368"/>
            <a:ext cx="34198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Team Name</a:t>
            </a:r>
            <a:endParaRPr lang="en-US" sz="850" dirty="0"/>
          </a:p>
        </p:txBody>
      </p:sp>
      <p:sp>
        <p:nvSpPr>
          <p:cNvPr id="24" name="Text 20"/>
          <p:cNvSpPr/>
          <p:nvPr/>
        </p:nvSpPr>
        <p:spPr>
          <a:xfrm>
            <a:off x="8321040" y="3172968"/>
            <a:ext cx="34015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Enter your registered team name</a:t>
            </a:r>
            <a:endParaRPr lang="en-US" sz="950" dirty="0"/>
          </a:p>
          <a:p>
            <a:pPr marL="0" indent="0" algn="l">
              <a:buNone/>
            </a:pPr>
            <a:r>
              <a:rPr lang="en-US" sz="95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e.g.  Team Innovators</a:t>
            </a:r>
            <a:endParaRPr lang="en-US" sz="950" dirty="0"/>
          </a:p>
        </p:txBody>
      </p:sp>
      <p:sp>
        <p:nvSpPr>
          <p:cNvPr id="25" name="Shape 21"/>
          <p:cNvSpPr/>
          <p:nvPr/>
        </p:nvSpPr>
        <p:spPr>
          <a:xfrm>
            <a:off x="365760" y="3840480"/>
            <a:ext cx="11457432" cy="658368"/>
          </a:xfrm>
          <a:prstGeom prst="rect">
            <a:avLst/>
          </a:prstGeom>
          <a:solidFill>
            <a:srgbClr val="FFFFFF">
              <a:alpha val="85000"/>
            </a:srgbClr>
          </a:solidFill>
          <a:ln w="22860">
            <a:solidFill>
              <a:srgbClr val="D4940A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365760" y="3840480"/>
            <a:ext cx="11457432" cy="237744"/>
          </a:xfrm>
          <a:prstGeom prst="rect">
            <a:avLst/>
          </a:prstGeom>
          <a:solidFill>
            <a:srgbClr val="2E4A78"/>
          </a:solidFill>
          <a:ln w="12700">
            <a:solidFill>
              <a:srgbClr val="2E4A78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457200" y="3840480"/>
            <a:ext cx="11274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 Title  ★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502920" y="4096512"/>
            <a:ext cx="11183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Write the full title of your chosen problem statement here  (copy exactly from the Problem Statement Booklet)</a:t>
            </a:r>
            <a:endParaRPr lang="en-US" sz="1050" dirty="0"/>
          </a:p>
        </p:txBody>
      </p:sp>
      <p:sp>
        <p:nvSpPr>
          <p:cNvPr id="29" name="Shape 25"/>
          <p:cNvSpPr/>
          <p:nvPr/>
        </p:nvSpPr>
        <p:spPr>
          <a:xfrm>
            <a:off x="365760" y="4590288"/>
            <a:ext cx="11457432" cy="274320"/>
          </a:xfrm>
          <a:prstGeom prst="rect">
            <a:avLst/>
          </a:prstGeom>
          <a:solidFill>
            <a:srgbClr val="2E4A78"/>
          </a:solidFill>
          <a:ln w="12700">
            <a:solidFill>
              <a:srgbClr val="2E4A78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457200" y="45902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MEMBERS &amp; INSTITUTE</a:t>
            </a:r>
            <a:endParaRPr lang="en-US" sz="900" dirty="0"/>
          </a:p>
        </p:txBody>
      </p:sp>
      <p:sp>
        <p:nvSpPr>
          <p:cNvPr id="31" name="Shape 27"/>
          <p:cNvSpPr/>
          <p:nvPr/>
        </p:nvSpPr>
        <p:spPr>
          <a:xfrm>
            <a:off x="365760" y="4864608"/>
            <a:ext cx="2816352" cy="530352"/>
          </a:xfrm>
          <a:prstGeom prst="rect">
            <a:avLst/>
          </a:prstGeom>
          <a:solidFill>
            <a:srgbClr val="FFFFFF">
              <a:alpha val="88000"/>
            </a:srgbClr>
          </a:solidFill>
          <a:ln w="12700">
            <a:solidFill>
              <a:srgbClr val="E8E4DC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438912" y="4864608"/>
            <a:ext cx="26700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Member 1:  [Name]  ·  [Roll No.]  ·  [Year]</a:t>
            </a:r>
            <a:endParaRPr lang="en-US" sz="900" dirty="0"/>
          </a:p>
        </p:txBody>
      </p:sp>
      <p:sp>
        <p:nvSpPr>
          <p:cNvPr id="33" name="Shape 29"/>
          <p:cNvSpPr/>
          <p:nvPr/>
        </p:nvSpPr>
        <p:spPr>
          <a:xfrm>
            <a:off x="3227832" y="4864608"/>
            <a:ext cx="2816352" cy="530352"/>
          </a:xfrm>
          <a:prstGeom prst="rect">
            <a:avLst/>
          </a:prstGeom>
          <a:solidFill>
            <a:srgbClr val="FFFFFF">
              <a:alpha val="88000"/>
            </a:srgbClr>
          </a:solidFill>
          <a:ln w="12700">
            <a:solidFill>
              <a:srgbClr val="E8E4DC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3300984" y="4864608"/>
            <a:ext cx="26700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Member 2:  [Name]  ·  [Roll No.]  ·  </a:t>
            </a:r>
            <a:r>
              <a:rPr lang="en-US" sz="900" i="1" dirty="0" smtClean="0">
                <a:latin typeface="Calibri" pitchFamily="34" charset="0"/>
                <a:ea typeface="Calibri" pitchFamily="34" charset="-122"/>
                <a:cs typeface="Calibri" pitchFamily="34" charset="-120"/>
              </a:rPr>
              <a:t>[</a:t>
            </a:r>
            <a:r>
              <a:rPr lang="en-US" sz="900" i="1" dirty="0" smtClean="0">
                <a:latin typeface="Calibri" pitchFamily="34" charset="0"/>
                <a:ea typeface="Calibri" pitchFamily="34" charset="-122"/>
                <a:cs typeface="Calibri" pitchFamily="34" charset="-120"/>
              </a:rPr>
              <a:t>] </a:t>
            </a:r>
            <a:r>
              <a:rPr lang="en-US" sz="9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Year</a:t>
            </a:r>
            <a:endParaRPr lang="en-US" sz="900" dirty="0"/>
          </a:p>
        </p:txBody>
      </p:sp>
      <p:sp>
        <p:nvSpPr>
          <p:cNvPr id="35" name="Shape 31"/>
          <p:cNvSpPr/>
          <p:nvPr/>
        </p:nvSpPr>
        <p:spPr>
          <a:xfrm>
            <a:off x="6089904" y="4864608"/>
            <a:ext cx="2816352" cy="530352"/>
          </a:xfrm>
          <a:prstGeom prst="rect">
            <a:avLst/>
          </a:prstGeom>
          <a:solidFill>
            <a:srgbClr val="FFFFFF">
              <a:alpha val="88000"/>
            </a:srgbClr>
          </a:solidFill>
          <a:ln w="12700">
            <a:solidFill>
              <a:srgbClr val="E8E4DC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6163056" y="4864608"/>
            <a:ext cx="26700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Member 3:  [Name]  ·  [Roll No.]  ·  [Year]</a:t>
            </a:r>
            <a:endParaRPr lang="en-US" sz="900" dirty="0"/>
          </a:p>
        </p:txBody>
      </p:sp>
      <p:sp>
        <p:nvSpPr>
          <p:cNvPr id="37" name="Shape 33"/>
          <p:cNvSpPr/>
          <p:nvPr/>
        </p:nvSpPr>
        <p:spPr>
          <a:xfrm>
            <a:off x="8951976" y="4864608"/>
            <a:ext cx="2816352" cy="530352"/>
          </a:xfrm>
          <a:prstGeom prst="rect">
            <a:avLst/>
          </a:prstGeom>
          <a:solidFill>
            <a:srgbClr val="FFFFFF">
              <a:alpha val="88000"/>
            </a:srgbClr>
          </a:solidFill>
          <a:ln w="12700">
            <a:solidFill>
              <a:srgbClr val="E8E4DC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9025128" y="4864608"/>
            <a:ext cx="26700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Member 4:  [Name]  ·  [Roll No.]  ·  [Year]</a:t>
            </a:r>
            <a:endParaRPr lang="en-US" sz="900" dirty="0"/>
          </a:p>
        </p:txBody>
      </p:sp>
      <p:sp>
        <p:nvSpPr>
          <p:cNvPr id="39" name="Shape 35"/>
          <p:cNvSpPr/>
          <p:nvPr/>
        </p:nvSpPr>
        <p:spPr>
          <a:xfrm>
            <a:off x="365760" y="5449824"/>
            <a:ext cx="7772400" cy="402336"/>
          </a:xfrm>
          <a:prstGeom prst="rect">
            <a:avLst/>
          </a:prstGeom>
          <a:solidFill>
            <a:srgbClr val="FFFFFF">
              <a:alpha val="86000"/>
            </a:srgbClr>
          </a:solidFill>
          <a:ln w="12700">
            <a:solidFill>
              <a:srgbClr val="E8E4DC"/>
            </a:solidFill>
            <a:prstDash val="solid"/>
          </a:ln>
        </p:spPr>
      </p:sp>
      <p:sp>
        <p:nvSpPr>
          <p:cNvPr id="40" name="Text 36"/>
          <p:cNvSpPr/>
          <p:nvPr/>
        </p:nvSpPr>
        <p:spPr>
          <a:xfrm>
            <a:off x="502920" y="5449824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College / Institute Name:  [Enter your institute name here]</a:t>
            </a:r>
            <a:endParaRPr lang="en-US" sz="1000" dirty="0"/>
          </a:p>
        </p:txBody>
      </p:sp>
      <p:sp>
        <p:nvSpPr>
          <p:cNvPr id="41" name="Shape 37"/>
          <p:cNvSpPr/>
          <p:nvPr/>
        </p:nvSpPr>
        <p:spPr>
          <a:xfrm>
            <a:off x="8229600" y="5449824"/>
            <a:ext cx="3593592" cy="402336"/>
          </a:xfrm>
          <a:prstGeom prst="rect">
            <a:avLst/>
          </a:prstGeom>
          <a:solidFill>
            <a:srgbClr val="FFFFFF">
              <a:alpha val="86000"/>
            </a:srgbClr>
          </a:solidFill>
          <a:ln w="12700">
            <a:solidFill>
              <a:srgbClr val="E8E4DC"/>
            </a:solidFill>
            <a:prstDash val="solid"/>
          </a:ln>
        </p:spPr>
      </p:sp>
      <p:sp>
        <p:nvSpPr>
          <p:cNvPr id="42" name="Text 38"/>
          <p:cNvSpPr/>
          <p:nvPr/>
        </p:nvSpPr>
        <p:spPr>
          <a:xfrm>
            <a:off x="8321040" y="5449824"/>
            <a:ext cx="35021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Date:  [DD / MM / 2026]</a:t>
            </a:r>
            <a:endParaRPr lang="en-US" sz="1000" dirty="0"/>
          </a:p>
        </p:txBody>
      </p:sp>
      <p:sp>
        <p:nvSpPr>
          <p:cNvPr id="43" name="Shape 39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243860"/>
          </a:solidFill>
          <a:ln w="12700">
            <a:solidFill>
              <a:srgbClr val="243860"/>
            </a:solidFill>
            <a:prstDash val="solid"/>
          </a:ln>
        </p:spPr>
      </p:sp>
      <p:sp>
        <p:nvSpPr>
          <p:cNvPr id="44" name="Shape 40"/>
          <p:cNvSpPr/>
          <p:nvPr/>
        </p:nvSpPr>
        <p:spPr>
          <a:xfrm>
            <a:off x="0" y="6565392"/>
            <a:ext cx="12188952" cy="27432"/>
          </a:xfrm>
          <a:prstGeom prst="rect">
            <a:avLst/>
          </a:prstGeom>
          <a:solidFill>
            <a:srgbClr val="D4940A"/>
          </a:solidFill>
          <a:ln w="12700">
            <a:solidFill>
              <a:srgbClr val="D4940A"/>
            </a:solidFill>
            <a:prstDash val="solid"/>
          </a:ln>
        </p:spPr>
      </p:sp>
      <p:sp>
        <p:nvSpPr>
          <p:cNvPr id="45" name="Text 41"/>
          <p:cNvSpPr/>
          <p:nvPr/>
        </p:nvSpPr>
        <p:spPr>
          <a:xfrm>
            <a:off x="274320" y="6583680"/>
            <a:ext cx="11640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F5E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avlokan.acebits.in  |  acebitsindri@gmail.com  |  Association of Civil Engineers, B.I.T. Sindri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22860"/>
            <a:ext cx="12188952" cy="6400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21792"/>
            <a:ext cx="12188952" cy="45720"/>
          </a:xfrm>
          <a:prstGeom prst="rect">
            <a:avLst/>
          </a:prstGeom>
          <a:solidFill>
            <a:srgbClr val="D4940A"/>
          </a:solidFill>
          <a:ln w="12700">
            <a:solidFill>
              <a:srgbClr val="D4940A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" y="36576"/>
            <a:ext cx="530352" cy="530352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48872" y="36576"/>
            <a:ext cx="530352" cy="53035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31520" y="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AVLOKAN 2026  |  HACKATHON </a:t>
            </a:r>
            <a:r>
              <a:rPr lang="en-US" sz="1300" b="1" dirty="0" smtClean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00" dirty="0"/>
          </a:p>
        </p:txBody>
      </p:sp>
      <p:sp>
        <p:nvSpPr>
          <p:cNvPr id="7" name="Text 3"/>
          <p:cNvSpPr/>
          <p:nvPr/>
        </p:nvSpPr>
        <p:spPr>
          <a:xfrm>
            <a:off x="731520" y="32004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F5E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Dept. of Civil Engineering, B.I.T. Sindri  |  avlokan.acebits.in</a:t>
            </a:r>
            <a:endParaRPr lang="en-US" sz="850" dirty="0"/>
          </a:p>
        </p:txBody>
      </p:sp>
      <p:sp>
        <p:nvSpPr>
          <p:cNvPr id="8" name="Shape 4"/>
          <p:cNvSpPr/>
          <p:nvPr/>
        </p:nvSpPr>
        <p:spPr>
          <a:xfrm>
            <a:off x="11530584" y="347472"/>
            <a:ext cx="0" cy="0"/>
          </a:xfrm>
          <a:prstGeom prst="rect">
            <a:avLst/>
          </a:prstGeom>
          <a:solidFill>
            <a:srgbClr val="D4940A"/>
          </a:solidFill>
          <a:ln/>
        </p:spPr>
      </p:sp>
      <p:sp>
        <p:nvSpPr>
          <p:cNvPr id="9" name="Text 5"/>
          <p:cNvSpPr/>
          <p:nvPr/>
        </p:nvSpPr>
        <p:spPr>
          <a:xfrm>
            <a:off x="8988552" y="301752"/>
            <a:ext cx="2487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F0C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2 OF 8</a:t>
            </a:r>
            <a:endParaRPr lang="en-US" sz="750" dirty="0"/>
          </a:p>
        </p:txBody>
      </p:sp>
      <p:sp>
        <p:nvSpPr>
          <p:cNvPr id="10" name="Shape 6"/>
          <p:cNvSpPr/>
          <p:nvPr/>
        </p:nvSpPr>
        <p:spPr>
          <a:xfrm>
            <a:off x="365760" y="749808"/>
            <a:ext cx="11457432" cy="47548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365760" y="1188720"/>
            <a:ext cx="11457432" cy="36576"/>
          </a:xfrm>
          <a:prstGeom prst="rect">
            <a:avLst/>
          </a:prstGeom>
          <a:solidFill>
            <a:srgbClr val="D4940A"/>
          </a:solidFill>
          <a:ln w="12700">
            <a:solidFill>
              <a:srgbClr val="D4940A"/>
            </a:solidFill>
            <a:prstDash val="solid"/>
          </a:ln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" y="804672"/>
            <a:ext cx="347472" cy="34747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14400" y="749808"/>
            <a:ext cx="108173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kern="0" spc="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UNDERSTANDING</a:t>
            </a:r>
            <a:endParaRPr lang="en-US" sz="1700" dirty="0"/>
          </a:p>
        </p:txBody>
      </p:sp>
      <p:sp>
        <p:nvSpPr>
          <p:cNvPr id="14" name="Shape 9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243860"/>
          </a:solidFill>
          <a:ln w="12700">
            <a:solidFill>
              <a:srgbClr val="243860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0" y="6565392"/>
            <a:ext cx="12188952" cy="27432"/>
          </a:xfrm>
          <a:prstGeom prst="rect">
            <a:avLst/>
          </a:prstGeom>
          <a:solidFill>
            <a:srgbClr val="D4940A"/>
          </a:solidFill>
          <a:ln w="12700">
            <a:solidFill>
              <a:srgbClr val="D4940A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182880" y="6583680"/>
            <a:ext cx="10817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i="1" dirty="0">
                <a:solidFill>
                  <a:srgbClr val="F5E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acebitsindri@gmail.com  |  avlokan.acebits.in  |  ACE, B.I.T. Sindri</a:t>
            </a:r>
            <a:endParaRPr lang="en-US" sz="750" dirty="0"/>
          </a:p>
        </p:txBody>
      </p:sp>
      <p:sp>
        <p:nvSpPr>
          <p:cNvPr id="17" name="Text 12"/>
          <p:cNvSpPr/>
          <p:nvPr/>
        </p:nvSpPr>
        <p:spPr>
          <a:xfrm>
            <a:off x="11457432" y="658368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0C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8</a:t>
            </a:r>
            <a:endParaRPr lang="en-US" sz="800" dirty="0"/>
          </a:p>
        </p:txBody>
      </p:sp>
      <p:sp>
        <p:nvSpPr>
          <p:cNvPr id="18" name="Shape 13"/>
          <p:cNvSpPr/>
          <p:nvPr/>
        </p:nvSpPr>
        <p:spPr>
          <a:xfrm>
            <a:off x="365760" y="1316736"/>
            <a:ext cx="5394960" cy="1298448"/>
          </a:xfrm>
          <a:prstGeom prst="rect">
            <a:avLst/>
          </a:prstGeom>
          <a:solidFill>
            <a:srgbClr val="EEF2FF"/>
          </a:solidFill>
          <a:ln w="15240">
            <a:solidFill>
              <a:srgbClr val="2E4A78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365760" y="1316736"/>
            <a:ext cx="5394960" cy="274320"/>
          </a:xfrm>
          <a:prstGeom prst="rect">
            <a:avLst/>
          </a:prstGeom>
          <a:solidFill>
            <a:srgbClr val="2E4A78"/>
          </a:solidFill>
          <a:ln w="12700">
            <a:solidFill>
              <a:srgbClr val="2E4A78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475488" y="1316736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CHOSEN PROBLEM STATEMENT  ★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475488" y="1609344"/>
            <a:ext cx="52120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complete problem statement in your own words — or paste from the booklet. Highlight the core challenge.</a:t>
            </a:r>
            <a:endParaRPr lang="en-US" sz="950" dirty="0"/>
          </a:p>
        </p:txBody>
      </p:sp>
      <p:sp>
        <p:nvSpPr>
          <p:cNvPr id="22" name="Shape 17"/>
          <p:cNvSpPr/>
          <p:nvPr/>
        </p:nvSpPr>
        <p:spPr>
          <a:xfrm>
            <a:off x="5943600" y="1316736"/>
            <a:ext cx="5870448" cy="53035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Text 18"/>
          <p:cNvSpPr/>
          <p:nvPr/>
        </p:nvSpPr>
        <p:spPr>
          <a:xfrm>
            <a:off x="6053328" y="1316736"/>
            <a:ext cx="5669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0C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TRACK:  [TRK-X  —  Track Full Name]</a:t>
            </a:r>
            <a:endParaRPr lang="en-US" sz="1400" dirty="0"/>
          </a:p>
        </p:txBody>
      </p:sp>
      <p:sp>
        <p:nvSpPr>
          <p:cNvPr id="24" name="Shape 19"/>
          <p:cNvSpPr/>
          <p:nvPr/>
        </p:nvSpPr>
        <p:spPr>
          <a:xfrm>
            <a:off x="5943600" y="1901952"/>
            <a:ext cx="5870448" cy="713232"/>
          </a:xfrm>
          <a:prstGeom prst="rect">
            <a:avLst/>
          </a:prstGeom>
          <a:solidFill>
            <a:srgbClr val="FFF8E8"/>
          </a:solidFill>
          <a:ln w="12700">
            <a:solidFill>
              <a:srgbClr val="E8E4DC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Text 20"/>
          <p:cNvSpPr/>
          <p:nvPr/>
        </p:nvSpPr>
        <p:spPr>
          <a:xfrm>
            <a:off x="6053328" y="1901952"/>
            <a:ext cx="5687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/ Focus Area:  [e.g. Smart Transportation / Renewable Energy / Urban Systems…]</a:t>
            </a:r>
            <a:endParaRPr lang="en-US" sz="1000" dirty="0"/>
          </a:p>
        </p:txBody>
      </p:sp>
      <p:sp>
        <p:nvSpPr>
          <p:cNvPr id="26" name="Shape 21"/>
          <p:cNvSpPr/>
          <p:nvPr/>
        </p:nvSpPr>
        <p:spPr>
          <a:xfrm>
            <a:off x="365760" y="2706624"/>
            <a:ext cx="5870448" cy="3291840"/>
          </a:xfrm>
          <a:prstGeom prst="rect">
            <a:avLst/>
          </a:prstGeom>
          <a:solidFill>
            <a:srgbClr val="EEF2FF"/>
          </a:solidFill>
          <a:ln w="15240">
            <a:solidFill>
              <a:srgbClr val="E8E4DC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365760" y="2688336"/>
            <a:ext cx="5870448" cy="274320"/>
          </a:xfrm>
          <a:prstGeom prst="rect">
            <a:avLst/>
          </a:prstGeom>
          <a:solidFill>
            <a:srgbClr val="2E4A78"/>
          </a:solidFill>
          <a:ln w="12700">
            <a:solidFill>
              <a:srgbClr val="2E4A78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457200" y="2688336"/>
            <a:ext cx="5705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SCENARIO  (What is happening now?)</a:t>
            </a:r>
            <a:endParaRPr lang="en-US" sz="850" dirty="0"/>
          </a:p>
        </p:txBody>
      </p:sp>
      <p:sp>
        <p:nvSpPr>
          <p:cNvPr id="29" name="Text 24"/>
          <p:cNvSpPr/>
          <p:nvPr/>
        </p:nvSpPr>
        <p:spPr>
          <a:xfrm>
            <a:off x="475488" y="2980944"/>
            <a:ext cx="5687568" cy="2962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the existing situation or status quo. Use data, statistics, or real examples if available.</a:t>
            </a:r>
            <a:endParaRPr lang="en-US" sz="950" dirty="0"/>
          </a:p>
          <a:p>
            <a:pPr marL="0" indent="0" algn="l">
              <a:buNone/>
            </a:pPr>
            <a:endParaRPr lang="en-US" sz="950" dirty="0"/>
          </a:p>
          <a:p>
            <a:pPr marL="0" indent="0" algn="l">
              <a:buNone/>
            </a:pPr>
            <a:r>
              <a:rPr lang="en-US" sz="950" i="1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'Urban traffic congestion in Tier-2 cities causes an average 45-minute daily delay per commuter, with no real-time signal optimization in place.'</a:t>
            </a:r>
            <a:endParaRPr lang="en-US" sz="950" dirty="0"/>
          </a:p>
        </p:txBody>
      </p:sp>
      <p:sp>
        <p:nvSpPr>
          <p:cNvPr id="30" name="Shape 25"/>
          <p:cNvSpPr/>
          <p:nvPr/>
        </p:nvSpPr>
        <p:spPr>
          <a:xfrm>
            <a:off x="5943600" y="2688336"/>
            <a:ext cx="5870448" cy="3291840"/>
          </a:xfrm>
          <a:prstGeom prst="rect">
            <a:avLst/>
          </a:prstGeom>
          <a:solidFill>
            <a:srgbClr val="FFF8E8"/>
          </a:solidFill>
          <a:ln w="15240">
            <a:solidFill>
              <a:srgbClr val="E8E4DC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5943600" y="2688336"/>
            <a:ext cx="5870448" cy="274320"/>
          </a:xfrm>
          <a:prstGeom prst="rect">
            <a:avLst/>
          </a:prstGeom>
          <a:solidFill>
            <a:srgbClr val="B07A00"/>
          </a:solidFill>
          <a:ln w="12700">
            <a:solidFill>
              <a:srgbClr val="B07A00"/>
            </a:solidFill>
            <a:prstDash val="solid"/>
          </a:ln>
        </p:spPr>
      </p:sp>
      <p:sp>
        <p:nvSpPr>
          <p:cNvPr id="32" name="Text 27"/>
          <p:cNvSpPr/>
          <p:nvPr/>
        </p:nvSpPr>
        <p:spPr>
          <a:xfrm>
            <a:off x="6035040" y="2688336"/>
            <a:ext cx="5705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IF UNSOLVED  (Why does this matter?)</a:t>
            </a:r>
            <a:endParaRPr lang="en-US" sz="850" dirty="0"/>
          </a:p>
        </p:txBody>
      </p:sp>
      <p:sp>
        <p:nvSpPr>
          <p:cNvPr id="33" name="Text 28"/>
          <p:cNvSpPr/>
          <p:nvPr/>
        </p:nvSpPr>
        <p:spPr>
          <a:xfrm>
            <a:off x="6053328" y="2980944"/>
            <a:ext cx="5687568" cy="2962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consequences if the problem continues to go unaddressed — economic, social, environmental, or safety impact.</a:t>
            </a:r>
            <a:endParaRPr lang="en-US" sz="950" dirty="0"/>
          </a:p>
          <a:p>
            <a:pPr marL="0" indent="0" algn="l">
              <a:buNone/>
            </a:pPr>
            <a:endParaRPr lang="en-US" sz="950" dirty="0"/>
          </a:p>
          <a:p>
            <a:pPr marL="0" indent="0" algn="l">
              <a:buNone/>
            </a:pPr>
            <a:r>
              <a:rPr lang="en-US" sz="950" i="1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'Continued subsidence in Jharia without monitoring leads to uninhabitable zones, displacement, and infrastructure loss estimated at Rs. 500 crore annually.'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22860"/>
            <a:ext cx="12188952" cy="6400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21792"/>
            <a:ext cx="12188952" cy="45720"/>
          </a:xfrm>
          <a:prstGeom prst="rect">
            <a:avLst/>
          </a:prstGeom>
          <a:solidFill>
            <a:srgbClr val="D4940A"/>
          </a:solidFill>
          <a:ln w="12700">
            <a:solidFill>
              <a:srgbClr val="D4940A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" y="36576"/>
            <a:ext cx="530352" cy="530352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48872" y="36576"/>
            <a:ext cx="530352" cy="53035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31520" y="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AVLOKAN 2026  |  HACKATHON </a:t>
            </a:r>
            <a:endParaRPr lang="en-US" sz="1300" dirty="0"/>
          </a:p>
        </p:txBody>
      </p:sp>
      <p:sp>
        <p:nvSpPr>
          <p:cNvPr id="7" name="Text 3"/>
          <p:cNvSpPr/>
          <p:nvPr/>
        </p:nvSpPr>
        <p:spPr>
          <a:xfrm>
            <a:off x="731520" y="32004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F5E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Dept. of Civil Engineering, B.I.T. Sindri  |  avlokan.acebits.in</a:t>
            </a:r>
            <a:endParaRPr lang="en-US" sz="850" dirty="0"/>
          </a:p>
        </p:txBody>
      </p:sp>
      <p:sp>
        <p:nvSpPr>
          <p:cNvPr id="8" name="Shape 4"/>
          <p:cNvSpPr/>
          <p:nvPr/>
        </p:nvSpPr>
        <p:spPr>
          <a:xfrm>
            <a:off x="11530584" y="347472"/>
            <a:ext cx="0" cy="0"/>
          </a:xfrm>
          <a:prstGeom prst="rect">
            <a:avLst/>
          </a:prstGeom>
          <a:solidFill>
            <a:srgbClr val="D4940A"/>
          </a:solidFill>
          <a:ln/>
        </p:spPr>
      </p:sp>
      <p:sp>
        <p:nvSpPr>
          <p:cNvPr id="9" name="Text 5"/>
          <p:cNvSpPr/>
          <p:nvPr/>
        </p:nvSpPr>
        <p:spPr>
          <a:xfrm>
            <a:off x="8988552" y="301752"/>
            <a:ext cx="2487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F0C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3 OF 8</a:t>
            </a:r>
            <a:endParaRPr lang="en-US" sz="750" dirty="0"/>
          </a:p>
        </p:txBody>
      </p:sp>
      <p:sp>
        <p:nvSpPr>
          <p:cNvPr id="10" name="Shape 6"/>
          <p:cNvSpPr/>
          <p:nvPr/>
        </p:nvSpPr>
        <p:spPr>
          <a:xfrm>
            <a:off x="365760" y="749808"/>
            <a:ext cx="11457432" cy="475488"/>
          </a:xfrm>
          <a:prstGeom prst="rect">
            <a:avLst/>
          </a:prstGeom>
          <a:solidFill>
            <a:srgbClr val="2E5E3A"/>
          </a:solidFill>
          <a:ln w="12700">
            <a:solidFill>
              <a:srgbClr val="2E5E3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365760" y="1188720"/>
            <a:ext cx="11457432" cy="36576"/>
          </a:xfrm>
          <a:prstGeom prst="rect">
            <a:avLst/>
          </a:prstGeom>
          <a:solidFill>
            <a:srgbClr val="D4940A"/>
          </a:solidFill>
          <a:ln w="12700">
            <a:solidFill>
              <a:srgbClr val="D4940A"/>
            </a:solidFill>
            <a:prstDash val="solid"/>
          </a:ln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" y="804672"/>
            <a:ext cx="347472" cy="34747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14400" y="749808"/>
            <a:ext cx="108173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kern="0" spc="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SOLUTION &amp; INNOVATION</a:t>
            </a:r>
            <a:endParaRPr lang="en-US" sz="1700" dirty="0"/>
          </a:p>
        </p:txBody>
      </p:sp>
      <p:sp>
        <p:nvSpPr>
          <p:cNvPr id="14" name="Shape 9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243860"/>
          </a:solidFill>
          <a:ln w="12700">
            <a:solidFill>
              <a:srgbClr val="243860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0" y="6565392"/>
            <a:ext cx="12188952" cy="27432"/>
          </a:xfrm>
          <a:prstGeom prst="rect">
            <a:avLst/>
          </a:prstGeom>
          <a:solidFill>
            <a:srgbClr val="D4940A"/>
          </a:solidFill>
          <a:ln w="12700">
            <a:solidFill>
              <a:srgbClr val="D4940A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182880" y="6583680"/>
            <a:ext cx="10817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i="1" dirty="0">
                <a:solidFill>
                  <a:srgbClr val="F5E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acebitsindri@gmail.com  |  avlokan.acebits.in  |  ACE, B.I.T. Sindri</a:t>
            </a:r>
            <a:endParaRPr lang="en-US" sz="750" dirty="0"/>
          </a:p>
        </p:txBody>
      </p:sp>
      <p:sp>
        <p:nvSpPr>
          <p:cNvPr id="17" name="Text 12"/>
          <p:cNvSpPr/>
          <p:nvPr/>
        </p:nvSpPr>
        <p:spPr>
          <a:xfrm>
            <a:off x="11457432" y="658368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0C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8</a:t>
            </a:r>
            <a:endParaRPr lang="en-US" sz="800" dirty="0"/>
          </a:p>
        </p:txBody>
      </p:sp>
      <p:sp>
        <p:nvSpPr>
          <p:cNvPr id="18" name="Shape 13"/>
          <p:cNvSpPr/>
          <p:nvPr/>
        </p:nvSpPr>
        <p:spPr>
          <a:xfrm>
            <a:off x="365760" y="1316736"/>
            <a:ext cx="11457432" cy="603504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365760" y="1883664"/>
            <a:ext cx="11457432" cy="45720"/>
          </a:xfrm>
          <a:prstGeom prst="rect">
            <a:avLst/>
          </a:prstGeom>
          <a:solidFill>
            <a:srgbClr val="D4940A"/>
          </a:solidFill>
          <a:ln w="12700">
            <a:solidFill>
              <a:srgbClr val="D4940A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502920" y="131673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0C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ONE-LINE SOLUTION TAGLINE  ★</a:t>
            </a:r>
            <a:endParaRPr lang="en-US" sz="800" dirty="0"/>
          </a:p>
        </p:txBody>
      </p:sp>
      <p:sp>
        <p:nvSpPr>
          <p:cNvPr id="21" name="Text 16"/>
          <p:cNvSpPr/>
          <p:nvPr/>
        </p:nvSpPr>
        <p:spPr>
          <a:xfrm>
            <a:off x="502920" y="1536192"/>
            <a:ext cx="11183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i="1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"[State your solution in ONE clear sentence — what does it do, for whom, and how?  e.g. An AI-powered real-time subsidence monitoring system using Sentinel-1 SAR data to protect residents of Jharia coalfield areas.]"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365760" y="1993392"/>
            <a:ext cx="3840480" cy="3529584"/>
          </a:xfrm>
          <a:prstGeom prst="rect">
            <a:avLst/>
          </a:prstGeom>
          <a:solidFill>
            <a:srgbClr val="EEF2FF"/>
          </a:solidFill>
          <a:ln w="22860">
            <a:solidFill>
              <a:srgbClr val="2E4A78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365760" y="1993392"/>
            <a:ext cx="3840480" cy="457200"/>
          </a:xfrm>
          <a:prstGeom prst="rect">
            <a:avLst/>
          </a:prstGeom>
          <a:solidFill>
            <a:srgbClr val="2E4A78"/>
          </a:solidFill>
          <a:ln w="12700">
            <a:solidFill>
              <a:srgbClr val="2E4A78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475488" y="2029968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475488" y="20299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4A7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400" dirty="0"/>
          </a:p>
        </p:txBody>
      </p:sp>
      <p:sp>
        <p:nvSpPr>
          <p:cNvPr id="26" name="Text 21"/>
          <p:cNvSpPr/>
          <p:nvPr/>
        </p:nvSpPr>
        <p:spPr>
          <a:xfrm>
            <a:off x="932688" y="202996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IDEA</a:t>
            </a:r>
            <a:endParaRPr lang="en-US" sz="1100" dirty="0"/>
          </a:p>
        </p:txBody>
      </p:sp>
      <p:sp>
        <p:nvSpPr>
          <p:cNvPr id="27" name="Text 22"/>
          <p:cNvSpPr/>
          <p:nvPr/>
        </p:nvSpPr>
        <p:spPr>
          <a:xfrm>
            <a:off x="493776" y="2487168"/>
            <a:ext cx="3602736" cy="2999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the main concept of your solution. What is the central innovation or approach?</a:t>
            </a:r>
            <a:endParaRPr lang="en-US" sz="950" dirty="0"/>
          </a:p>
          <a:p>
            <a:pPr marL="0" indent="0" algn="l">
              <a:buNone/>
            </a:pPr>
            <a:endParaRPr lang="en-US" sz="950" dirty="0"/>
          </a:p>
          <a:p>
            <a:pPr marL="0" indent="0" algn="l">
              <a:buNone/>
            </a:pPr>
            <a:r>
              <a:rPr lang="en-US" sz="950" i="1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is this different from what already exists?</a:t>
            </a:r>
            <a:endParaRPr lang="en-US" sz="950" dirty="0"/>
          </a:p>
          <a:p>
            <a:pPr marL="0" indent="0" algn="l">
              <a:buNone/>
            </a:pPr>
            <a:endParaRPr lang="en-US" sz="950" dirty="0"/>
          </a:p>
          <a:p>
            <a:pPr marL="0" indent="0" algn="l">
              <a:buNone/>
            </a:pPr>
            <a:r>
              <a:rPr lang="en-US" sz="950" i="1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engineering principle or technology is at the heart of your solution?</a:t>
            </a:r>
            <a:endParaRPr lang="en-US" sz="950" dirty="0"/>
          </a:p>
        </p:txBody>
      </p:sp>
      <p:sp>
        <p:nvSpPr>
          <p:cNvPr id="28" name="Shape 23"/>
          <p:cNvSpPr/>
          <p:nvPr/>
        </p:nvSpPr>
        <p:spPr>
          <a:xfrm>
            <a:off x="4315968" y="1993392"/>
            <a:ext cx="3840480" cy="3529584"/>
          </a:xfrm>
          <a:prstGeom prst="rect">
            <a:avLst/>
          </a:prstGeom>
          <a:solidFill>
            <a:srgbClr val="F0F8F2"/>
          </a:solidFill>
          <a:ln w="22860">
            <a:solidFill>
              <a:srgbClr val="2E5E3A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4315968" y="1993392"/>
            <a:ext cx="3840480" cy="457200"/>
          </a:xfrm>
          <a:prstGeom prst="rect">
            <a:avLst/>
          </a:prstGeom>
          <a:solidFill>
            <a:srgbClr val="2E5E3A"/>
          </a:solidFill>
          <a:ln w="12700">
            <a:solidFill>
              <a:srgbClr val="2E5E3A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4425696" y="2029968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4425696" y="20299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5E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400" dirty="0"/>
          </a:p>
        </p:txBody>
      </p:sp>
      <p:sp>
        <p:nvSpPr>
          <p:cNvPr id="32" name="Text 27"/>
          <p:cNvSpPr/>
          <p:nvPr/>
        </p:nvSpPr>
        <p:spPr>
          <a:xfrm>
            <a:off x="4882896" y="202996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METHODOLOGY / APPROACH</a:t>
            </a:r>
            <a:endParaRPr lang="en-US" sz="1100" dirty="0"/>
          </a:p>
        </p:txBody>
      </p:sp>
      <p:sp>
        <p:nvSpPr>
          <p:cNvPr id="33" name="Text 28"/>
          <p:cNvSpPr/>
          <p:nvPr/>
        </p:nvSpPr>
        <p:spPr>
          <a:xfrm>
            <a:off x="4443984" y="2487168"/>
            <a:ext cx="3602736" cy="2999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will you build or implement this solution?</a:t>
            </a:r>
            <a:endParaRPr lang="en-US" sz="950" dirty="0"/>
          </a:p>
          <a:p>
            <a:pPr marL="0" indent="0" algn="l">
              <a:buNone/>
            </a:pPr>
            <a:endParaRPr lang="en-US" sz="950" dirty="0"/>
          </a:p>
          <a:p>
            <a:pPr marL="0" indent="0" algn="l">
              <a:buNone/>
            </a:pPr>
            <a:r>
              <a:rPr lang="en-US" sz="950" i="1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the key steps, processes, or algorithms involved.</a:t>
            </a:r>
            <a:endParaRPr lang="en-US" sz="950" dirty="0"/>
          </a:p>
          <a:p>
            <a:pPr marL="0" indent="0" algn="l">
              <a:buNone/>
            </a:pPr>
            <a:endParaRPr lang="en-US" sz="950" dirty="0"/>
          </a:p>
          <a:p>
            <a:pPr marL="0" indent="0" algn="l">
              <a:buNone/>
            </a:pPr>
            <a:r>
              <a:rPr lang="en-US" sz="950" i="1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Mention the tools, frameworks, or methods (hardware, software, simulation, or hybrid) you will use.</a:t>
            </a:r>
            <a:endParaRPr lang="en-US" sz="950" dirty="0"/>
          </a:p>
        </p:txBody>
      </p:sp>
      <p:sp>
        <p:nvSpPr>
          <p:cNvPr id="34" name="Shape 29"/>
          <p:cNvSpPr/>
          <p:nvPr/>
        </p:nvSpPr>
        <p:spPr>
          <a:xfrm>
            <a:off x="8266176" y="1993392"/>
            <a:ext cx="3840480" cy="3529584"/>
          </a:xfrm>
          <a:prstGeom prst="rect">
            <a:avLst/>
          </a:prstGeom>
          <a:solidFill>
            <a:srgbClr val="FFF8E8"/>
          </a:solidFill>
          <a:ln w="22860">
            <a:solidFill>
              <a:srgbClr val="B07A0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5" name="Shape 30"/>
          <p:cNvSpPr/>
          <p:nvPr/>
        </p:nvSpPr>
        <p:spPr>
          <a:xfrm>
            <a:off x="8266176" y="1993392"/>
            <a:ext cx="3840480" cy="457200"/>
          </a:xfrm>
          <a:prstGeom prst="rect">
            <a:avLst/>
          </a:prstGeom>
          <a:solidFill>
            <a:srgbClr val="B07A00"/>
          </a:solidFill>
          <a:ln w="12700">
            <a:solidFill>
              <a:srgbClr val="B07A00"/>
            </a:solidFill>
            <a:prstDash val="solid"/>
          </a:ln>
        </p:spPr>
      </p:sp>
      <p:sp>
        <p:nvSpPr>
          <p:cNvPr id="36" name="Shape 31"/>
          <p:cNvSpPr/>
          <p:nvPr/>
        </p:nvSpPr>
        <p:spPr>
          <a:xfrm>
            <a:off x="8375904" y="2029968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Text 32"/>
          <p:cNvSpPr/>
          <p:nvPr/>
        </p:nvSpPr>
        <p:spPr>
          <a:xfrm>
            <a:off x="8375904" y="20299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B07A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400" dirty="0"/>
          </a:p>
        </p:txBody>
      </p:sp>
      <p:sp>
        <p:nvSpPr>
          <p:cNvPr id="38" name="Text 33"/>
          <p:cNvSpPr/>
          <p:nvPr/>
        </p:nvSpPr>
        <p:spPr>
          <a:xfrm>
            <a:off x="8833104" y="202996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DIFFERENTIATOR</a:t>
            </a:r>
            <a:endParaRPr lang="en-US" sz="1100" dirty="0"/>
          </a:p>
        </p:txBody>
      </p:sp>
      <p:sp>
        <p:nvSpPr>
          <p:cNvPr id="39" name="Text 34"/>
          <p:cNvSpPr/>
          <p:nvPr/>
        </p:nvSpPr>
        <p:spPr>
          <a:xfrm>
            <a:off x="8394192" y="2487168"/>
            <a:ext cx="3602736" cy="2999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YOUR solution better than existing approaches?</a:t>
            </a:r>
            <a:endParaRPr lang="en-US" sz="950" dirty="0"/>
          </a:p>
          <a:p>
            <a:pPr marL="0" indent="0" algn="l">
              <a:buNone/>
            </a:pPr>
            <a:endParaRPr lang="en-US" sz="950" dirty="0"/>
          </a:p>
          <a:p>
            <a:pPr marL="0" indent="0" algn="l">
              <a:buNone/>
            </a:pPr>
            <a:r>
              <a:rPr lang="en-US" sz="950" i="1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at least 2 key advantages — e.g. lower cost, real-time capability, no infrastructure needed, civil engineering focus, scalability, etc.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21792"/>
            <a:ext cx="12188952" cy="45720"/>
          </a:xfrm>
          <a:prstGeom prst="rect">
            <a:avLst/>
          </a:prstGeom>
          <a:solidFill>
            <a:srgbClr val="D4940A"/>
          </a:solidFill>
          <a:ln w="12700">
            <a:solidFill>
              <a:srgbClr val="D4940A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" y="36576"/>
            <a:ext cx="530352" cy="530352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48872" y="36576"/>
            <a:ext cx="530352" cy="53035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31520" y="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AVLOKAN 2026  |  HACKATHON </a:t>
            </a:r>
            <a:endParaRPr lang="en-US" sz="1300" dirty="0"/>
          </a:p>
        </p:txBody>
      </p:sp>
      <p:sp>
        <p:nvSpPr>
          <p:cNvPr id="7" name="Text 3"/>
          <p:cNvSpPr/>
          <p:nvPr/>
        </p:nvSpPr>
        <p:spPr>
          <a:xfrm>
            <a:off x="731520" y="32004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F5E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Dept. of Civil Engineering, B.I.T. Sindri  |  avlokan.acebits.in</a:t>
            </a:r>
            <a:endParaRPr lang="en-US" sz="850" dirty="0"/>
          </a:p>
        </p:txBody>
      </p:sp>
      <p:sp>
        <p:nvSpPr>
          <p:cNvPr id="8" name="Shape 4"/>
          <p:cNvSpPr/>
          <p:nvPr/>
        </p:nvSpPr>
        <p:spPr>
          <a:xfrm>
            <a:off x="11530584" y="347472"/>
            <a:ext cx="0" cy="0"/>
          </a:xfrm>
          <a:prstGeom prst="rect">
            <a:avLst/>
          </a:prstGeom>
          <a:solidFill>
            <a:srgbClr val="D4940A"/>
          </a:solidFill>
          <a:ln/>
        </p:spPr>
      </p:sp>
      <p:sp>
        <p:nvSpPr>
          <p:cNvPr id="9" name="Text 5"/>
          <p:cNvSpPr/>
          <p:nvPr/>
        </p:nvSpPr>
        <p:spPr>
          <a:xfrm>
            <a:off x="8988552" y="301752"/>
            <a:ext cx="2487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F0C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4 OF 8</a:t>
            </a:r>
            <a:endParaRPr lang="en-US" sz="750" dirty="0"/>
          </a:p>
        </p:txBody>
      </p:sp>
      <p:sp>
        <p:nvSpPr>
          <p:cNvPr id="10" name="Shape 6"/>
          <p:cNvSpPr/>
          <p:nvPr/>
        </p:nvSpPr>
        <p:spPr>
          <a:xfrm>
            <a:off x="365760" y="749808"/>
            <a:ext cx="11457432" cy="47548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365760" y="1188720"/>
            <a:ext cx="11457432" cy="36576"/>
          </a:xfrm>
          <a:prstGeom prst="rect">
            <a:avLst/>
          </a:prstGeom>
          <a:solidFill>
            <a:srgbClr val="D4940A"/>
          </a:solidFill>
          <a:ln w="12700">
            <a:solidFill>
              <a:srgbClr val="D4940A"/>
            </a:solidFill>
            <a:prstDash val="solid"/>
          </a:ln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" y="804672"/>
            <a:ext cx="347472" cy="34747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14400" y="749808"/>
            <a:ext cx="108173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kern="0" spc="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 &amp; TECHNOLOGY STACK</a:t>
            </a:r>
            <a:endParaRPr lang="en-US" sz="1700" dirty="0"/>
          </a:p>
        </p:txBody>
      </p:sp>
      <p:sp>
        <p:nvSpPr>
          <p:cNvPr id="14" name="Shape 9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243860"/>
          </a:solidFill>
          <a:ln w="12700">
            <a:solidFill>
              <a:srgbClr val="243860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0" y="6565392"/>
            <a:ext cx="12188952" cy="27432"/>
          </a:xfrm>
          <a:prstGeom prst="rect">
            <a:avLst/>
          </a:prstGeom>
          <a:solidFill>
            <a:srgbClr val="D4940A"/>
          </a:solidFill>
          <a:ln w="12700">
            <a:solidFill>
              <a:srgbClr val="D4940A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182880" y="6583680"/>
            <a:ext cx="10817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i="1" dirty="0">
                <a:solidFill>
                  <a:srgbClr val="F5E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acebitsindri@gmail.com  |  avlokan.acebits.in  |  ACE, B.I.T. Sindri</a:t>
            </a:r>
            <a:endParaRPr lang="en-US" sz="750" dirty="0"/>
          </a:p>
        </p:txBody>
      </p:sp>
      <p:sp>
        <p:nvSpPr>
          <p:cNvPr id="17" name="Text 12"/>
          <p:cNvSpPr/>
          <p:nvPr/>
        </p:nvSpPr>
        <p:spPr>
          <a:xfrm>
            <a:off x="11457432" y="658368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0C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8</a:t>
            </a:r>
            <a:endParaRPr lang="en-US" sz="800" dirty="0"/>
          </a:p>
        </p:txBody>
      </p:sp>
      <p:sp>
        <p:nvSpPr>
          <p:cNvPr id="18" name="Shape 13"/>
          <p:cNvSpPr/>
          <p:nvPr/>
        </p:nvSpPr>
        <p:spPr>
          <a:xfrm>
            <a:off x="388620" y="1339596"/>
            <a:ext cx="7680960" cy="3657600"/>
          </a:xfrm>
          <a:prstGeom prst="rect">
            <a:avLst/>
          </a:prstGeom>
          <a:solidFill>
            <a:srgbClr val="EEF2FF"/>
          </a:solidFill>
          <a:ln w="19050">
            <a:solidFill>
              <a:srgbClr val="2E4A78"/>
            </a:solidFill>
            <a:prstDash val="dash"/>
          </a:ln>
        </p:spPr>
      </p:sp>
      <p:sp>
        <p:nvSpPr>
          <p:cNvPr id="19" name="Text 14"/>
          <p:cNvSpPr/>
          <p:nvPr/>
        </p:nvSpPr>
        <p:spPr>
          <a:xfrm>
            <a:off x="548640" y="1316736"/>
            <a:ext cx="73152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DIAGRAM  ★
</a:t>
            </a:r>
            <a:endParaRPr lang="en-US" sz="12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Insert / draw your architecture diagram here.
</a:t>
            </a:r>
            <a:endParaRPr lang="en-US" sz="1200" dirty="0"/>
          </a:p>
          <a:p>
            <a:pPr marL="0" indent="0" algn="ctr">
              <a:buNone/>
            </a:pPr>
            <a:r>
              <a:rPr lang="en-US" sz="950" i="1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should clearly show the components, modules, and data flow of your solution.
</a:t>
            </a:r>
            <a:endParaRPr lang="en-US" sz="1200" dirty="0"/>
          </a:p>
          <a:p>
            <a:pPr marL="0" indent="0" algn="ctr">
              <a:buNone/>
            </a:pPr>
            <a:r>
              <a:rPr lang="en-US" sz="9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add:  Insert &gt; Picture  or  Insert &gt; SmartArt  or paste a diagram from draw.io / Lucidchart / FigJam.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8193024" y="1316736"/>
            <a:ext cx="3630168" cy="36576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6"/>
          <p:cNvSpPr/>
          <p:nvPr/>
        </p:nvSpPr>
        <p:spPr>
          <a:xfrm>
            <a:off x="8284464" y="1316736"/>
            <a:ext cx="34381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0C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STACK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8193024" y="1645920"/>
            <a:ext cx="3630168" cy="27432"/>
          </a:xfrm>
          <a:prstGeom prst="rect">
            <a:avLst/>
          </a:prstGeom>
          <a:solidFill>
            <a:srgbClr val="D4940A"/>
          </a:solidFill>
          <a:ln w="12700">
            <a:solidFill>
              <a:srgbClr val="D4940A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8284464" y="1719072"/>
            <a:ext cx="3438144" cy="475488"/>
          </a:xfrm>
          <a:prstGeom prst="rect">
            <a:avLst/>
          </a:prstGeom>
          <a:solidFill>
            <a:srgbClr val="24386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8321040" y="1728216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0C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/ UI</a:t>
            </a:r>
            <a:endParaRPr lang="en-US" sz="800" dirty="0"/>
          </a:p>
        </p:txBody>
      </p:sp>
      <p:sp>
        <p:nvSpPr>
          <p:cNvPr id="25" name="Text 20"/>
          <p:cNvSpPr/>
          <p:nvPr/>
        </p:nvSpPr>
        <p:spPr>
          <a:xfrm>
            <a:off x="8321040" y="1938528"/>
            <a:ext cx="3364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[e.g. React Native, Flutter, Web App, LCD Display]</a:t>
            </a:r>
            <a:endParaRPr lang="en-US" sz="850" dirty="0"/>
          </a:p>
        </p:txBody>
      </p:sp>
      <p:sp>
        <p:nvSpPr>
          <p:cNvPr id="26" name="Shape 21"/>
          <p:cNvSpPr/>
          <p:nvPr/>
        </p:nvSpPr>
        <p:spPr>
          <a:xfrm>
            <a:off x="8284464" y="2249424"/>
            <a:ext cx="3438144" cy="475488"/>
          </a:xfrm>
          <a:prstGeom prst="rect">
            <a:avLst/>
          </a:prstGeom>
          <a:solidFill>
            <a:srgbClr val="2E4A7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8321040" y="2258568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0C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/ Logic</a:t>
            </a:r>
            <a:endParaRPr lang="en-US" sz="800" dirty="0"/>
          </a:p>
        </p:txBody>
      </p:sp>
      <p:sp>
        <p:nvSpPr>
          <p:cNvPr id="28" name="Text 23"/>
          <p:cNvSpPr/>
          <p:nvPr/>
        </p:nvSpPr>
        <p:spPr>
          <a:xfrm>
            <a:off x="8321040" y="2468880"/>
            <a:ext cx="3364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[e.g. Node.js, Python Flask, Arduino C++]</a:t>
            </a:r>
            <a:endParaRPr lang="en-US" sz="850" dirty="0"/>
          </a:p>
        </p:txBody>
      </p:sp>
      <p:sp>
        <p:nvSpPr>
          <p:cNvPr id="29" name="Shape 24"/>
          <p:cNvSpPr/>
          <p:nvPr/>
        </p:nvSpPr>
        <p:spPr>
          <a:xfrm>
            <a:off x="8284464" y="2779776"/>
            <a:ext cx="3438144" cy="475488"/>
          </a:xfrm>
          <a:prstGeom prst="rect">
            <a:avLst/>
          </a:prstGeom>
          <a:solidFill>
            <a:srgbClr val="24386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8321040" y="278892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0C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/ ML</a:t>
            </a:r>
            <a:endParaRPr lang="en-US" sz="800" dirty="0"/>
          </a:p>
        </p:txBody>
      </p:sp>
      <p:sp>
        <p:nvSpPr>
          <p:cNvPr id="31" name="Text 26"/>
          <p:cNvSpPr/>
          <p:nvPr/>
        </p:nvSpPr>
        <p:spPr>
          <a:xfrm>
            <a:off x="8321040" y="2999232"/>
            <a:ext cx="3364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[e.g. TensorFlow, YOLOv8, Scikit-learn, None]</a:t>
            </a:r>
            <a:endParaRPr lang="en-US" sz="850" dirty="0"/>
          </a:p>
        </p:txBody>
      </p:sp>
      <p:sp>
        <p:nvSpPr>
          <p:cNvPr id="32" name="Shape 27"/>
          <p:cNvSpPr/>
          <p:nvPr/>
        </p:nvSpPr>
        <p:spPr>
          <a:xfrm>
            <a:off x="8284464" y="3310128"/>
            <a:ext cx="3438144" cy="475488"/>
          </a:xfrm>
          <a:prstGeom prst="rect">
            <a:avLst/>
          </a:prstGeom>
          <a:solidFill>
            <a:srgbClr val="2E4A7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28"/>
          <p:cNvSpPr/>
          <p:nvPr/>
        </p:nvSpPr>
        <p:spPr>
          <a:xfrm>
            <a:off x="8321040" y="3319272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0C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</a:t>
            </a:r>
            <a:endParaRPr lang="en-US" sz="800" dirty="0"/>
          </a:p>
        </p:txBody>
      </p:sp>
      <p:sp>
        <p:nvSpPr>
          <p:cNvPr id="34" name="Text 29"/>
          <p:cNvSpPr/>
          <p:nvPr/>
        </p:nvSpPr>
        <p:spPr>
          <a:xfrm>
            <a:off x="8321040" y="3529584"/>
            <a:ext cx="3364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[e.g. MongoDB, Firebase, PostgreSQL, Local Storage]</a:t>
            </a:r>
            <a:endParaRPr lang="en-US" sz="850" dirty="0"/>
          </a:p>
        </p:txBody>
      </p:sp>
      <p:sp>
        <p:nvSpPr>
          <p:cNvPr id="35" name="Shape 30"/>
          <p:cNvSpPr/>
          <p:nvPr/>
        </p:nvSpPr>
        <p:spPr>
          <a:xfrm>
            <a:off x="8284464" y="3840480"/>
            <a:ext cx="3438144" cy="475488"/>
          </a:xfrm>
          <a:prstGeom prst="rect">
            <a:avLst/>
          </a:prstGeom>
          <a:solidFill>
            <a:srgbClr val="24386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Text 31"/>
          <p:cNvSpPr/>
          <p:nvPr/>
        </p:nvSpPr>
        <p:spPr>
          <a:xfrm>
            <a:off x="8321040" y="3849624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0C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</a:t>
            </a:r>
            <a:endParaRPr lang="en-US" sz="800" dirty="0"/>
          </a:p>
        </p:txBody>
      </p:sp>
      <p:sp>
        <p:nvSpPr>
          <p:cNvPr id="37" name="Text 32"/>
          <p:cNvSpPr/>
          <p:nvPr/>
        </p:nvSpPr>
        <p:spPr>
          <a:xfrm>
            <a:off x="8321040" y="4059936"/>
            <a:ext cx="3364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[e.g. Arduino Uno, Raspberry Pi, Sensors, None]</a:t>
            </a:r>
            <a:endParaRPr lang="en-US" sz="850" dirty="0"/>
          </a:p>
        </p:txBody>
      </p:sp>
      <p:sp>
        <p:nvSpPr>
          <p:cNvPr id="38" name="Shape 33"/>
          <p:cNvSpPr/>
          <p:nvPr/>
        </p:nvSpPr>
        <p:spPr>
          <a:xfrm>
            <a:off x="8284464" y="4370832"/>
            <a:ext cx="3438144" cy="475488"/>
          </a:xfrm>
          <a:prstGeom prst="rect">
            <a:avLst/>
          </a:prstGeom>
          <a:solidFill>
            <a:srgbClr val="2E4A7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Text 34"/>
          <p:cNvSpPr/>
          <p:nvPr/>
        </p:nvSpPr>
        <p:spPr>
          <a:xfrm>
            <a:off x="8321040" y="4379976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0C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Tools</a:t>
            </a:r>
            <a:endParaRPr lang="en-US" sz="800" dirty="0"/>
          </a:p>
        </p:txBody>
      </p:sp>
      <p:sp>
        <p:nvSpPr>
          <p:cNvPr id="40" name="Text 35"/>
          <p:cNvSpPr/>
          <p:nvPr/>
        </p:nvSpPr>
        <p:spPr>
          <a:xfrm>
            <a:off x="8321040" y="4590288"/>
            <a:ext cx="3364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[e.g. QGIS, AutoCAD, MATLAB, Sentinel Hub]</a:t>
            </a:r>
            <a:endParaRPr lang="en-US" sz="850" dirty="0"/>
          </a:p>
        </p:txBody>
      </p:sp>
      <p:sp>
        <p:nvSpPr>
          <p:cNvPr id="41" name="Shape 36"/>
          <p:cNvSpPr/>
          <p:nvPr/>
        </p:nvSpPr>
        <p:spPr>
          <a:xfrm>
            <a:off x="365760" y="5047488"/>
            <a:ext cx="7680960" cy="329184"/>
          </a:xfrm>
          <a:prstGeom prst="rect">
            <a:avLst/>
          </a:prstGeom>
          <a:solidFill>
            <a:srgbClr val="B07A00"/>
          </a:solidFill>
          <a:ln w="12700">
            <a:solidFill>
              <a:srgbClr val="B07A00"/>
            </a:solidFill>
            <a:prstDash val="solid"/>
          </a:ln>
        </p:spPr>
      </p:sp>
      <p:sp>
        <p:nvSpPr>
          <p:cNvPr id="42" name="Text 37"/>
          <p:cNvSpPr/>
          <p:nvPr/>
        </p:nvSpPr>
        <p:spPr>
          <a:xfrm>
            <a:off x="502920" y="5047488"/>
            <a:ext cx="7406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 TYPE:  [ Hardware  /  Software  /  Simulation  /  Hardware + Software  /  Other ]  — Circle / bold the applicable type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21792"/>
            <a:ext cx="12188952" cy="45720"/>
          </a:xfrm>
          <a:prstGeom prst="rect">
            <a:avLst/>
          </a:prstGeom>
          <a:solidFill>
            <a:srgbClr val="D4940A"/>
          </a:solidFill>
          <a:ln w="12700">
            <a:solidFill>
              <a:srgbClr val="D4940A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" y="36576"/>
            <a:ext cx="530352" cy="530352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48872" y="36576"/>
            <a:ext cx="530352" cy="53035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31520" y="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AVLOKAN 2026  |  HACKATHON </a:t>
            </a:r>
            <a:endParaRPr lang="en-US" sz="1300" dirty="0"/>
          </a:p>
        </p:txBody>
      </p:sp>
      <p:sp>
        <p:nvSpPr>
          <p:cNvPr id="7" name="Text 3"/>
          <p:cNvSpPr/>
          <p:nvPr/>
        </p:nvSpPr>
        <p:spPr>
          <a:xfrm>
            <a:off x="731520" y="32004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F5E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Dept. of Civil Engineering, B.I.T. Sindri  |  avlokan.acebits.in</a:t>
            </a:r>
            <a:endParaRPr lang="en-US" sz="850" dirty="0"/>
          </a:p>
        </p:txBody>
      </p:sp>
      <p:sp>
        <p:nvSpPr>
          <p:cNvPr id="8" name="Shape 4"/>
          <p:cNvSpPr/>
          <p:nvPr/>
        </p:nvSpPr>
        <p:spPr>
          <a:xfrm>
            <a:off x="11530584" y="347472"/>
            <a:ext cx="0" cy="0"/>
          </a:xfrm>
          <a:prstGeom prst="rect">
            <a:avLst/>
          </a:prstGeom>
          <a:solidFill>
            <a:srgbClr val="D4940A"/>
          </a:solidFill>
          <a:ln/>
        </p:spPr>
      </p:sp>
      <p:sp>
        <p:nvSpPr>
          <p:cNvPr id="9" name="Text 5"/>
          <p:cNvSpPr/>
          <p:nvPr/>
        </p:nvSpPr>
        <p:spPr>
          <a:xfrm>
            <a:off x="8988552" y="301752"/>
            <a:ext cx="2487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F0C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5 OF 8</a:t>
            </a:r>
            <a:endParaRPr lang="en-US" sz="750" dirty="0"/>
          </a:p>
        </p:txBody>
      </p:sp>
      <p:sp>
        <p:nvSpPr>
          <p:cNvPr id="10" name="Shape 6"/>
          <p:cNvSpPr/>
          <p:nvPr/>
        </p:nvSpPr>
        <p:spPr>
          <a:xfrm>
            <a:off x="365760" y="749808"/>
            <a:ext cx="11457432" cy="475488"/>
          </a:xfrm>
          <a:prstGeom prst="rect">
            <a:avLst/>
          </a:prstGeom>
          <a:solidFill>
            <a:srgbClr val="B07A00"/>
          </a:solidFill>
          <a:ln w="12700">
            <a:solidFill>
              <a:srgbClr val="B07A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365760" y="1188720"/>
            <a:ext cx="11457432" cy="36576"/>
          </a:xfrm>
          <a:prstGeom prst="rect">
            <a:avLst/>
          </a:prstGeom>
          <a:solidFill>
            <a:srgbClr val="D4940A"/>
          </a:solidFill>
          <a:ln w="12700">
            <a:solidFill>
              <a:srgbClr val="D4940A"/>
            </a:solidFill>
            <a:prstDash val="solid"/>
          </a:ln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" y="804672"/>
            <a:ext cx="347472" cy="34747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14400" y="749808"/>
            <a:ext cx="108173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kern="0" spc="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 PLAN  &amp;  HACKATHON </a:t>
            </a:r>
            <a:r>
              <a:rPr lang="en-US" sz="1700" b="1" kern="0" spc="150" dirty="0" smtClean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 (</a:t>
            </a:r>
            <a:r>
              <a:rPr lang="en-US" sz="900" b="1" kern="0" spc="150" dirty="0" smtClean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your own plan If this format is not applicable </a:t>
            </a:r>
            <a:r>
              <a:rPr lang="en-US" sz="1600" b="1" kern="0" spc="150" dirty="0" smtClean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sz="1600" dirty="0"/>
          </a:p>
        </p:txBody>
      </p:sp>
      <p:sp>
        <p:nvSpPr>
          <p:cNvPr id="14" name="Shape 9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243860"/>
          </a:solidFill>
          <a:ln w="12700">
            <a:solidFill>
              <a:srgbClr val="243860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0" y="6565392"/>
            <a:ext cx="12188952" cy="27432"/>
          </a:xfrm>
          <a:prstGeom prst="rect">
            <a:avLst/>
          </a:prstGeom>
          <a:solidFill>
            <a:srgbClr val="D4940A"/>
          </a:solidFill>
          <a:ln w="12700">
            <a:solidFill>
              <a:srgbClr val="D4940A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182880" y="6583680"/>
            <a:ext cx="10817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i="1" dirty="0">
                <a:solidFill>
                  <a:srgbClr val="F5E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acebitsindri@gmail.com  |  avlokan.acebits.in  |  ACE, B.I.T. Sindri</a:t>
            </a:r>
            <a:endParaRPr lang="en-US" sz="750" dirty="0"/>
          </a:p>
        </p:txBody>
      </p:sp>
      <p:sp>
        <p:nvSpPr>
          <p:cNvPr id="17" name="Text 12"/>
          <p:cNvSpPr/>
          <p:nvPr/>
        </p:nvSpPr>
        <p:spPr>
          <a:xfrm>
            <a:off x="11457432" y="658368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0C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8</a:t>
            </a:r>
            <a:endParaRPr lang="en-US" sz="800" dirty="0"/>
          </a:p>
        </p:txBody>
      </p:sp>
      <p:sp>
        <p:nvSpPr>
          <p:cNvPr id="18" name="Shape 13"/>
          <p:cNvSpPr/>
          <p:nvPr/>
        </p:nvSpPr>
        <p:spPr>
          <a:xfrm>
            <a:off x="365760" y="2468880"/>
            <a:ext cx="11457432" cy="91440"/>
          </a:xfrm>
          <a:prstGeom prst="rect">
            <a:avLst/>
          </a:prstGeom>
          <a:solidFill>
            <a:srgbClr val="243860"/>
          </a:solidFill>
          <a:ln w="12700">
            <a:solidFill>
              <a:srgbClr val="243860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1600200" y="2322576"/>
            <a:ext cx="292608" cy="292608"/>
          </a:xfrm>
          <a:prstGeom prst="ellipse">
            <a:avLst/>
          </a:prstGeom>
          <a:solidFill>
            <a:srgbClr val="2E4A78"/>
          </a:solidFill>
          <a:ln w="12700">
            <a:solidFill>
              <a:srgbClr val="2E4A78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1737360" y="2615184"/>
            <a:ext cx="18288" cy="256032"/>
          </a:xfrm>
          <a:prstGeom prst="rect">
            <a:avLst/>
          </a:prstGeom>
          <a:solidFill>
            <a:srgbClr val="2E4A78"/>
          </a:solidFill>
          <a:ln w="12700">
            <a:solidFill>
              <a:srgbClr val="2E4A78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365760" y="2894076"/>
            <a:ext cx="2816352" cy="3108960"/>
          </a:xfrm>
          <a:prstGeom prst="rect">
            <a:avLst/>
          </a:prstGeom>
          <a:solidFill>
            <a:srgbClr val="F8F6F0"/>
          </a:solidFill>
          <a:ln w="22860">
            <a:solidFill>
              <a:srgbClr val="2E4A78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365760" y="2871216"/>
            <a:ext cx="2816352" cy="530352"/>
          </a:xfrm>
          <a:prstGeom prst="rect">
            <a:avLst/>
          </a:prstGeom>
          <a:solidFill>
            <a:srgbClr val="2E4A78"/>
          </a:solidFill>
          <a:ln w="12700">
            <a:solidFill>
              <a:srgbClr val="2E4A78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457200" y="2907792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457200" y="29077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4A7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200" dirty="0"/>
          </a:p>
        </p:txBody>
      </p:sp>
      <p:sp>
        <p:nvSpPr>
          <p:cNvPr id="25" name="Text 20"/>
          <p:cNvSpPr/>
          <p:nvPr/>
        </p:nvSpPr>
        <p:spPr>
          <a:xfrm>
            <a:off x="896112" y="2889504"/>
            <a:ext cx="22128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HOURS 0–3</a:t>
            </a:r>
            <a:endParaRPr lang="en-US" sz="800" dirty="0"/>
          </a:p>
        </p:txBody>
      </p:sp>
      <p:sp>
        <p:nvSpPr>
          <p:cNvPr id="26" name="Text 21"/>
          <p:cNvSpPr/>
          <p:nvPr/>
        </p:nvSpPr>
        <p:spPr>
          <a:xfrm>
            <a:off x="896112" y="3054096"/>
            <a:ext cx="2212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PLANNING &amp; SETUP</a:t>
            </a:r>
            <a:endParaRPr lang="en-US" sz="950" dirty="0"/>
          </a:p>
        </p:txBody>
      </p:sp>
      <p:sp>
        <p:nvSpPr>
          <p:cNvPr id="27" name="Text 22"/>
          <p:cNvSpPr/>
          <p:nvPr/>
        </p:nvSpPr>
        <p:spPr>
          <a:xfrm>
            <a:off x="475488" y="3438144"/>
            <a:ext cx="2615184" cy="2505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what your team will do in the first 3 hours:</a:t>
            </a:r>
            <a:endParaRPr lang="en-US" sz="950" dirty="0"/>
          </a:p>
          <a:p>
            <a:pPr marL="0" indent="0" algn="l">
              <a:buNone/>
            </a:pPr>
            <a:r>
              <a:rPr lang="en-US" sz="950" i="1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Finalise architecture</a:t>
            </a:r>
            <a:endParaRPr lang="en-US" sz="950" dirty="0"/>
          </a:p>
          <a:p>
            <a:pPr marL="0" indent="0" algn="l">
              <a:buNone/>
            </a:pPr>
            <a:r>
              <a:rPr lang="en-US" sz="950" i="1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Divide tasks among members</a:t>
            </a:r>
            <a:endParaRPr lang="en-US" sz="950" dirty="0"/>
          </a:p>
          <a:p>
            <a:pPr marL="0" indent="0" algn="l">
              <a:buNone/>
            </a:pPr>
            <a:r>
              <a:rPr lang="en-US" sz="950" i="1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Set up environment / tools</a:t>
            </a:r>
            <a:endParaRPr lang="en-US" sz="950" dirty="0"/>
          </a:p>
          <a:p>
            <a:pPr marL="0" indent="0" algn="l">
              <a:buNone/>
            </a:pPr>
            <a:r>
              <a:rPr lang="en-US" sz="950" i="1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Define acceptance criteria</a:t>
            </a:r>
            <a:endParaRPr lang="en-US" sz="950" dirty="0"/>
          </a:p>
          <a:p>
            <a:pPr marL="0" indent="0" algn="l">
              <a:buNone/>
            </a:pPr>
            <a:endParaRPr lang="en-US" sz="950" dirty="0"/>
          </a:p>
          <a:p>
            <a:pPr marL="0" indent="0" algn="l">
              <a:buNone/>
            </a:pPr>
            <a:r>
              <a:rPr lang="en-US" sz="950" i="1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[Describe your Phase 1 plan here]</a:t>
            </a:r>
            <a:endParaRPr lang="en-US" sz="950" dirty="0"/>
          </a:p>
        </p:txBody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27248" y="2430018"/>
            <a:ext cx="164592" cy="164592"/>
          </a:xfrm>
          <a:prstGeom prst="rect">
            <a:avLst/>
          </a:prstGeom>
        </p:spPr>
      </p:pic>
      <p:sp>
        <p:nvSpPr>
          <p:cNvPr id="29" name="Shape 23"/>
          <p:cNvSpPr/>
          <p:nvPr/>
        </p:nvSpPr>
        <p:spPr>
          <a:xfrm>
            <a:off x="4462272" y="2322576"/>
            <a:ext cx="292608" cy="292608"/>
          </a:xfrm>
          <a:prstGeom prst="ellipse">
            <a:avLst/>
          </a:prstGeom>
          <a:solidFill>
            <a:srgbClr val="2E5E3A"/>
          </a:solidFill>
          <a:ln w="12700">
            <a:solidFill>
              <a:srgbClr val="2E5E3A"/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4599432" y="2615184"/>
            <a:ext cx="18288" cy="256032"/>
          </a:xfrm>
          <a:prstGeom prst="rect">
            <a:avLst/>
          </a:prstGeom>
          <a:solidFill>
            <a:srgbClr val="2E5E3A"/>
          </a:solidFill>
          <a:ln w="12700">
            <a:solidFill>
              <a:srgbClr val="2E5E3A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3227832" y="2871216"/>
            <a:ext cx="2816352" cy="3108960"/>
          </a:xfrm>
          <a:prstGeom prst="rect">
            <a:avLst/>
          </a:prstGeom>
          <a:solidFill>
            <a:srgbClr val="F8F6F0"/>
          </a:solidFill>
          <a:ln w="22860">
            <a:solidFill>
              <a:srgbClr val="2E5E3A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2" name="Shape 26"/>
          <p:cNvSpPr/>
          <p:nvPr/>
        </p:nvSpPr>
        <p:spPr>
          <a:xfrm>
            <a:off x="3227832" y="2871216"/>
            <a:ext cx="2816352" cy="530352"/>
          </a:xfrm>
          <a:prstGeom prst="rect">
            <a:avLst/>
          </a:prstGeom>
          <a:solidFill>
            <a:srgbClr val="2E5E3A"/>
          </a:solidFill>
          <a:ln w="12700">
            <a:solidFill>
              <a:srgbClr val="2E5E3A"/>
            </a:solidFill>
            <a:prstDash val="solid"/>
          </a:ln>
        </p:spPr>
      </p:sp>
      <p:sp>
        <p:nvSpPr>
          <p:cNvPr id="33" name="Shape 27"/>
          <p:cNvSpPr/>
          <p:nvPr/>
        </p:nvSpPr>
        <p:spPr>
          <a:xfrm>
            <a:off x="3319272" y="2907792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Text 28"/>
          <p:cNvSpPr/>
          <p:nvPr/>
        </p:nvSpPr>
        <p:spPr>
          <a:xfrm>
            <a:off x="3319272" y="29077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5E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200" dirty="0"/>
          </a:p>
        </p:txBody>
      </p:sp>
      <p:sp>
        <p:nvSpPr>
          <p:cNvPr id="35" name="Text 29"/>
          <p:cNvSpPr/>
          <p:nvPr/>
        </p:nvSpPr>
        <p:spPr>
          <a:xfrm>
            <a:off x="3758184" y="2889504"/>
            <a:ext cx="22128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HOURS 3–7</a:t>
            </a:r>
            <a:endParaRPr lang="en-US" sz="800" dirty="0"/>
          </a:p>
        </p:txBody>
      </p:sp>
      <p:sp>
        <p:nvSpPr>
          <p:cNvPr id="36" name="Text 30"/>
          <p:cNvSpPr/>
          <p:nvPr/>
        </p:nvSpPr>
        <p:spPr>
          <a:xfrm>
            <a:off x="3758184" y="3054096"/>
            <a:ext cx="2212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DEVELOPMENT</a:t>
            </a:r>
            <a:endParaRPr lang="en-US" sz="950" dirty="0"/>
          </a:p>
        </p:txBody>
      </p:sp>
      <p:sp>
        <p:nvSpPr>
          <p:cNvPr id="37" name="Text 31"/>
          <p:cNvSpPr/>
          <p:nvPr/>
        </p:nvSpPr>
        <p:spPr>
          <a:xfrm>
            <a:off x="3337560" y="3438144"/>
            <a:ext cx="2615184" cy="2505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the main development sprint:</a:t>
            </a:r>
            <a:endParaRPr lang="en-US" sz="950" dirty="0"/>
          </a:p>
          <a:p>
            <a:pPr marL="0" indent="0" algn="l">
              <a:buNone/>
            </a:pPr>
            <a:r>
              <a:rPr lang="en-US" sz="950" i="1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Key modules to build</a:t>
            </a:r>
            <a:endParaRPr lang="en-US" sz="950" dirty="0"/>
          </a:p>
          <a:p>
            <a:pPr marL="0" indent="0" algn="l">
              <a:buNone/>
            </a:pPr>
            <a:r>
              <a:rPr lang="en-US" sz="950" i="1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Hardware setup / prototype assembly</a:t>
            </a:r>
            <a:endParaRPr lang="en-US" sz="950" dirty="0"/>
          </a:p>
          <a:p>
            <a:pPr marL="0" indent="0" algn="l">
              <a:buNone/>
            </a:pPr>
            <a:r>
              <a:rPr lang="en-US" sz="950" i="1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Core algorithm implementation</a:t>
            </a:r>
            <a:endParaRPr lang="en-US" sz="950" dirty="0"/>
          </a:p>
          <a:p>
            <a:pPr marL="0" indent="0" algn="l">
              <a:buNone/>
            </a:pPr>
            <a:r>
              <a:rPr lang="en-US" sz="950" i="1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Data collection or integration</a:t>
            </a:r>
            <a:endParaRPr lang="en-US" sz="950" dirty="0"/>
          </a:p>
          <a:p>
            <a:pPr marL="0" indent="0" algn="l">
              <a:buNone/>
            </a:pPr>
            <a:endParaRPr lang="en-US" sz="950" dirty="0"/>
          </a:p>
          <a:p>
            <a:pPr marL="0" indent="0" algn="l">
              <a:buNone/>
            </a:pPr>
            <a:r>
              <a:rPr lang="en-US" sz="950" i="1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[Describe your Phase 2 plan here]</a:t>
            </a:r>
            <a:endParaRPr lang="en-US" sz="950" dirty="0"/>
          </a:p>
        </p:txBody>
      </p:sp>
      <p:pic>
        <p:nvPicPr>
          <p:cNvPr id="38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89320" y="2430018"/>
            <a:ext cx="164592" cy="164592"/>
          </a:xfrm>
          <a:prstGeom prst="rect">
            <a:avLst/>
          </a:prstGeom>
        </p:spPr>
      </p:pic>
      <p:sp>
        <p:nvSpPr>
          <p:cNvPr id="39" name="Shape 32"/>
          <p:cNvSpPr/>
          <p:nvPr/>
        </p:nvSpPr>
        <p:spPr>
          <a:xfrm>
            <a:off x="7324344" y="2322576"/>
            <a:ext cx="292608" cy="292608"/>
          </a:xfrm>
          <a:prstGeom prst="ellipse">
            <a:avLst/>
          </a:prstGeom>
          <a:solidFill>
            <a:srgbClr val="D4940A"/>
          </a:solidFill>
          <a:ln w="12700">
            <a:solidFill>
              <a:srgbClr val="D4940A"/>
            </a:solidFill>
            <a:prstDash val="solid"/>
          </a:ln>
        </p:spPr>
      </p:sp>
      <p:sp>
        <p:nvSpPr>
          <p:cNvPr id="40" name="Shape 33"/>
          <p:cNvSpPr/>
          <p:nvPr/>
        </p:nvSpPr>
        <p:spPr>
          <a:xfrm>
            <a:off x="7461504" y="2615184"/>
            <a:ext cx="18288" cy="256032"/>
          </a:xfrm>
          <a:prstGeom prst="rect">
            <a:avLst/>
          </a:prstGeom>
          <a:solidFill>
            <a:srgbClr val="D4940A"/>
          </a:solidFill>
          <a:ln w="12700">
            <a:solidFill>
              <a:srgbClr val="D4940A"/>
            </a:solidFill>
            <a:prstDash val="solid"/>
          </a:ln>
        </p:spPr>
      </p:sp>
      <p:sp>
        <p:nvSpPr>
          <p:cNvPr id="41" name="Shape 34"/>
          <p:cNvSpPr/>
          <p:nvPr/>
        </p:nvSpPr>
        <p:spPr>
          <a:xfrm>
            <a:off x="6089904" y="2871216"/>
            <a:ext cx="2816352" cy="3108960"/>
          </a:xfrm>
          <a:prstGeom prst="rect">
            <a:avLst/>
          </a:prstGeom>
          <a:solidFill>
            <a:srgbClr val="F8F6F0"/>
          </a:solidFill>
          <a:ln w="22860">
            <a:solidFill>
              <a:srgbClr val="D4940A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2" name="Shape 35"/>
          <p:cNvSpPr/>
          <p:nvPr/>
        </p:nvSpPr>
        <p:spPr>
          <a:xfrm>
            <a:off x="6089904" y="2871216"/>
            <a:ext cx="2816352" cy="530352"/>
          </a:xfrm>
          <a:prstGeom prst="rect">
            <a:avLst/>
          </a:prstGeom>
          <a:solidFill>
            <a:srgbClr val="D4940A"/>
          </a:solidFill>
          <a:ln w="12700">
            <a:solidFill>
              <a:srgbClr val="D4940A"/>
            </a:solidFill>
            <a:prstDash val="solid"/>
          </a:ln>
        </p:spPr>
      </p:sp>
      <p:sp>
        <p:nvSpPr>
          <p:cNvPr id="43" name="Shape 36"/>
          <p:cNvSpPr/>
          <p:nvPr/>
        </p:nvSpPr>
        <p:spPr>
          <a:xfrm>
            <a:off x="6181344" y="2907792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Text 37"/>
          <p:cNvSpPr/>
          <p:nvPr/>
        </p:nvSpPr>
        <p:spPr>
          <a:xfrm>
            <a:off x="6181344" y="29077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494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200" dirty="0"/>
          </a:p>
        </p:txBody>
      </p:sp>
      <p:sp>
        <p:nvSpPr>
          <p:cNvPr id="45" name="Text 38"/>
          <p:cNvSpPr/>
          <p:nvPr/>
        </p:nvSpPr>
        <p:spPr>
          <a:xfrm>
            <a:off x="6620256" y="2889504"/>
            <a:ext cx="22128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HOURS 7–10</a:t>
            </a:r>
            <a:endParaRPr lang="en-US" sz="800" dirty="0"/>
          </a:p>
        </p:txBody>
      </p:sp>
      <p:sp>
        <p:nvSpPr>
          <p:cNvPr id="46" name="Text 39"/>
          <p:cNvSpPr/>
          <p:nvPr/>
        </p:nvSpPr>
        <p:spPr>
          <a:xfrm>
            <a:off x="6620256" y="3054096"/>
            <a:ext cx="2212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 &amp; TESTING</a:t>
            </a:r>
            <a:endParaRPr lang="en-US" sz="950" dirty="0"/>
          </a:p>
        </p:txBody>
      </p:sp>
      <p:sp>
        <p:nvSpPr>
          <p:cNvPr id="47" name="Text 40"/>
          <p:cNvSpPr/>
          <p:nvPr/>
        </p:nvSpPr>
        <p:spPr>
          <a:xfrm>
            <a:off x="6199632" y="3438144"/>
            <a:ext cx="2615184" cy="2505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how you will integrate components:</a:t>
            </a:r>
            <a:endParaRPr lang="en-US" sz="950" dirty="0"/>
          </a:p>
          <a:p>
            <a:pPr marL="0" indent="0" algn="l">
              <a:buNone/>
            </a:pPr>
            <a:r>
              <a:rPr lang="en-US" sz="950" i="1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Connect frontend with backend</a:t>
            </a:r>
            <a:endParaRPr lang="en-US" sz="950" dirty="0"/>
          </a:p>
          <a:p>
            <a:pPr marL="0" indent="0" algn="l">
              <a:buNone/>
            </a:pPr>
            <a:r>
              <a:rPr lang="en-US" sz="950" i="1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Test hardware-software interface</a:t>
            </a:r>
            <a:endParaRPr lang="en-US" sz="950" dirty="0"/>
          </a:p>
          <a:p>
            <a:pPr marL="0" indent="0" algn="l">
              <a:buNone/>
            </a:pPr>
            <a:r>
              <a:rPr lang="en-US" sz="950" i="1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Debug and fix critical issues</a:t>
            </a:r>
            <a:endParaRPr lang="en-US" sz="950" dirty="0"/>
          </a:p>
          <a:p>
            <a:pPr marL="0" indent="0" algn="l">
              <a:buNone/>
            </a:pPr>
            <a:r>
              <a:rPr lang="en-US" sz="950" i="1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Validate against problem requirements</a:t>
            </a:r>
            <a:endParaRPr lang="en-US" sz="950" dirty="0"/>
          </a:p>
          <a:p>
            <a:pPr marL="0" indent="0" algn="l">
              <a:buNone/>
            </a:pPr>
            <a:endParaRPr lang="en-US" sz="950" dirty="0"/>
          </a:p>
          <a:p>
            <a:pPr marL="0" indent="0" algn="l">
              <a:buNone/>
            </a:pPr>
            <a:r>
              <a:rPr lang="en-US" sz="950" i="1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[Describe your Phase 3 plan here]</a:t>
            </a:r>
            <a:endParaRPr lang="en-US" sz="950" dirty="0"/>
          </a:p>
        </p:txBody>
      </p:sp>
      <p:pic>
        <p:nvPicPr>
          <p:cNvPr id="48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51392" y="2418588"/>
            <a:ext cx="164592" cy="164592"/>
          </a:xfrm>
          <a:prstGeom prst="rect">
            <a:avLst/>
          </a:prstGeom>
        </p:spPr>
      </p:pic>
      <p:sp>
        <p:nvSpPr>
          <p:cNvPr id="49" name="Shape 41"/>
          <p:cNvSpPr/>
          <p:nvPr/>
        </p:nvSpPr>
        <p:spPr>
          <a:xfrm>
            <a:off x="10186416" y="2322576"/>
            <a:ext cx="292608" cy="292608"/>
          </a:xfrm>
          <a:prstGeom prst="ellipse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50" name="Shape 42"/>
          <p:cNvSpPr/>
          <p:nvPr/>
        </p:nvSpPr>
        <p:spPr>
          <a:xfrm>
            <a:off x="10323576" y="2615184"/>
            <a:ext cx="18288" cy="256032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51" name="Shape 43"/>
          <p:cNvSpPr/>
          <p:nvPr/>
        </p:nvSpPr>
        <p:spPr>
          <a:xfrm>
            <a:off x="8951976" y="2871216"/>
            <a:ext cx="2816352" cy="3108960"/>
          </a:xfrm>
          <a:prstGeom prst="rect">
            <a:avLst/>
          </a:prstGeom>
          <a:solidFill>
            <a:srgbClr val="F8F6F0"/>
          </a:solidFill>
          <a:ln w="22860">
            <a:solidFill>
              <a:srgbClr val="8B1A1A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2" name="Shape 44"/>
          <p:cNvSpPr/>
          <p:nvPr/>
        </p:nvSpPr>
        <p:spPr>
          <a:xfrm>
            <a:off x="8951976" y="2871216"/>
            <a:ext cx="2816352" cy="530352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53" name="Shape 45"/>
          <p:cNvSpPr/>
          <p:nvPr/>
        </p:nvSpPr>
        <p:spPr>
          <a:xfrm>
            <a:off x="9043416" y="2907792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4" name="Text 46"/>
          <p:cNvSpPr/>
          <p:nvPr/>
        </p:nvSpPr>
        <p:spPr>
          <a:xfrm>
            <a:off x="9043416" y="29077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8B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200" dirty="0"/>
          </a:p>
        </p:txBody>
      </p:sp>
      <p:sp>
        <p:nvSpPr>
          <p:cNvPr id="55" name="Text 47"/>
          <p:cNvSpPr/>
          <p:nvPr/>
        </p:nvSpPr>
        <p:spPr>
          <a:xfrm>
            <a:off x="9482328" y="2889504"/>
            <a:ext cx="22128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HOURS 10–12</a:t>
            </a:r>
            <a:endParaRPr lang="en-US" sz="800" dirty="0"/>
          </a:p>
        </p:txBody>
      </p:sp>
      <p:sp>
        <p:nvSpPr>
          <p:cNvPr id="56" name="Text 48"/>
          <p:cNvSpPr/>
          <p:nvPr/>
        </p:nvSpPr>
        <p:spPr>
          <a:xfrm>
            <a:off x="9482328" y="3054096"/>
            <a:ext cx="2212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&amp; SUBMISSION</a:t>
            </a:r>
            <a:endParaRPr lang="en-US" sz="950" dirty="0"/>
          </a:p>
        </p:txBody>
      </p:sp>
      <p:sp>
        <p:nvSpPr>
          <p:cNvPr id="57" name="Text 49"/>
          <p:cNvSpPr/>
          <p:nvPr/>
        </p:nvSpPr>
        <p:spPr>
          <a:xfrm>
            <a:off x="9061704" y="3438144"/>
            <a:ext cx="2615184" cy="2505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phase — polishing and presentation:</a:t>
            </a:r>
            <a:endParaRPr lang="en-US" sz="950" dirty="0"/>
          </a:p>
          <a:p>
            <a:pPr marL="0" indent="0" algn="l">
              <a:buNone/>
            </a:pPr>
            <a:r>
              <a:rPr lang="en-US" sz="950" i="1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Prepare working demo</a:t>
            </a:r>
            <a:endParaRPr lang="en-US" sz="950" dirty="0"/>
          </a:p>
          <a:p>
            <a:pPr marL="0" indent="0" algn="l">
              <a:buNone/>
            </a:pPr>
            <a:r>
              <a:rPr lang="en-US" sz="950" i="1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Create 5-min pitch</a:t>
            </a:r>
            <a:endParaRPr lang="en-US" sz="950" dirty="0"/>
          </a:p>
          <a:p>
            <a:pPr marL="0" indent="0" algn="l">
              <a:buNone/>
            </a:pPr>
            <a:r>
              <a:rPr lang="en-US" sz="950" i="1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Compile project report</a:t>
            </a:r>
            <a:endParaRPr lang="en-US" sz="950" dirty="0"/>
          </a:p>
          <a:p>
            <a:pPr marL="0" indent="0" algn="l">
              <a:buNone/>
            </a:pPr>
            <a:r>
              <a:rPr lang="en-US" sz="950" i="1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Submit GitHub / files by 22:00</a:t>
            </a:r>
            <a:endParaRPr lang="en-US" sz="950" dirty="0"/>
          </a:p>
          <a:p>
            <a:pPr marL="0" indent="0" algn="l">
              <a:buNone/>
            </a:pPr>
            <a:endParaRPr lang="en-US" sz="950" dirty="0"/>
          </a:p>
          <a:p>
            <a:pPr marL="0" indent="0" algn="l">
              <a:buNone/>
            </a:pPr>
            <a:r>
              <a:rPr lang="en-US" sz="950" i="1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[Describe your Phase 4 plan here]</a:t>
            </a:r>
            <a:endParaRPr lang="en-US" sz="950" dirty="0"/>
          </a:p>
        </p:txBody>
      </p:sp>
      <p:sp>
        <p:nvSpPr>
          <p:cNvPr id="58" name="Text 50"/>
          <p:cNvSpPr/>
          <p:nvPr/>
        </p:nvSpPr>
        <p:spPr>
          <a:xfrm>
            <a:off x="365760" y="1335024"/>
            <a:ext cx="114574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how your team plans to spend the 12-hour sprint. Be realistic and specific.</a:t>
            </a:r>
            <a:endParaRPr lang="en-US" sz="950" dirty="0"/>
          </a:p>
        </p:txBody>
      </p:sp>
      <p:sp>
        <p:nvSpPr>
          <p:cNvPr id="59" name="Text 51"/>
          <p:cNvSpPr/>
          <p:nvPr/>
        </p:nvSpPr>
        <p:spPr>
          <a:xfrm>
            <a:off x="365760" y="1645920"/>
            <a:ext cx="11457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B07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 Your plan will be checked for feasibility — vague or unrealistic plans will be penalised in scoring.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21792"/>
            <a:ext cx="12188952" cy="45720"/>
          </a:xfrm>
          <a:prstGeom prst="rect">
            <a:avLst/>
          </a:prstGeom>
          <a:solidFill>
            <a:srgbClr val="D4940A"/>
          </a:solidFill>
          <a:ln w="12700">
            <a:solidFill>
              <a:srgbClr val="D4940A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" y="36576"/>
            <a:ext cx="530352" cy="530352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48872" y="36576"/>
            <a:ext cx="530352" cy="53035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31520" y="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AVLOKAN 2026  |  HACKATHON </a:t>
            </a:r>
            <a:endParaRPr lang="en-US" sz="1300" dirty="0"/>
          </a:p>
        </p:txBody>
      </p:sp>
      <p:sp>
        <p:nvSpPr>
          <p:cNvPr id="7" name="Text 3"/>
          <p:cNvSpPr/>
          <p:nvPr/>
        </p:nvSpPr>
        <p:spPr>
          <a:xfrm>
            <a:off x="731520" y="32004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F5E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Dept. of Civil Engineering, B.I.T. Sindri  |  avlokan.acebits.in</a:t>
            </a:r>
            <a:endParaRPr lang="en-US" sz="850" dirty="0"/>
          </a:p>
        </p:txBody>
      </p:sp>
      <p:sp>
        <p:nvSpPr>
          <p:cNvPr id="8" name="Shape 4"/>
          <p:cNvSpPr/>
          <p:nvPr/>
        </p:nvSpPr>
        <p:spPr>
          <a:xfrm>
            <a:off x="11530584" y="347472"/>
            <a:ext cx="0" cy="0"/>
          </a:xfrm>
          <a:prstGeom prst="rect">
            <a:avLst/>
          </a:prstGeom>
          <a:solidFill>
            <a:srgbClr val="D4940A"/>
          </a:solidFill>
          <a:ln/>
        </p:spPr>
      </p:sp>
      <p:sp>
        <p:nvSpPr>
          <p:cNvPr id="9" name="Text 5"/>
          <p:cNvSpPr/>
          <p:nvPr/>
        </p:nvSpPr>
        <p:spPr>
          <a:xfrm>
            <a:off x="8988552" y="301752"/>
            <a:ext cx="2487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F0C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6 OF 8</a:t>
            </a:r>
            <a:endParaRPr lang="en-US" sz="750" dirty="0"/>
          </a:p>
        </p:txBody>
      </p:sp>
      <p:sp>
        <p:nvSpPr>
          <p:cNvPr id="10" name="Shape 6"/>
          <p:cNvSpPr/>
          <p:nvPr/>
        </p:nvSpPr>
        <p:spPr>
          <a:xfrm>
            <a:off x="365760" y="749808"/>
            <a:ext cx="11457432" cy="475488"/>
          </a:xfrm>
          <a:prstGeom prst="rect">
            <a:avLst/>
          </a:prstGeom>
          <a:solidFill>
            <a:srgbClr val="2E5E3A"/>
          </a:solidFill>
          <a:ln w="12700">
            <a:solidFill>
              <a:srgbClr val="2E5E3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365760" y="1188720"/>
            <a:ext cx="11457432" cy="36576"/>
          </a:xfrm>
          <a:prstGeom prst="rect">
            <a:avLst/>
          </a:prstGeom>
          <a:solidFill>
            <a:srgbClr val="D4940A"/>
          </a:solidFill>
          <a:ln w="12700">
            <a:solidFill>
              <a:srgbClr val="D4940A"/>
            </a:solidFill>
            <a:prstDash val="solid"/>
          </a:ln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" y="804672"/>
            <a:ext cx="347472" cy="34747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14400" y="749808"/>
            <a:ext cx="108173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kern="0" spc="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 OUTCOMES  &amp;  REAL-WORLD IMPACT</a:t>
            </a:r>
            <a:endParaRPr lang="en-US" sz="1700" dirty="0"/>
          </a:p>
        </p:txBody>
      </p:sp>
      <p:sp>
        <p:nvSpPr>
          <p:cNvPr id="14" name="Shape 9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243860"/>
          </a:solidFill>
          <a:ln w="12700">
            <a:solidFill>
              <a:srgbClr val="243860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0" y="6565392"/>
            <a:ext cx="12188952" cy="27432"/>
          </a:xfrm>
          <a:prstGeom prst="rect">
            <a:avLst/>
          </a:prstGeom>
          <a:solidFill>
            <a:srgbClr val="D4940A"/>
          </a:solidFill>
          <a:ln w="12700">
            <a:solidFill>
              <a:srgbClr val="D4940A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182880" y="6606540"/>
            <a:ext cx="10817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i="1" dirty="0">
                <a:solidFill>
                  <a:srgbClr val="F5E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acebitsindri@gmail.com  |  avlokan.acebits.in  |  ACE, B.I.T. Sindri</a:t>
            </a:r>
            <a:endParaRPr lang="en-US" sz="750" dirty="0"/>
          </a:p>
        </p:txBody>
      </p:sp>
      <p:sp>
        <p:nvSpPr>
          <p:cNvPr id="17" name="Text 12"/>
          <p:cNvSpPr/>
          <p:nvPr/>
        </p:nvSpPr>
        <p:spPr>
          <a:xfrm>
            <a:off x="11457432" y="658368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0C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8</a:t>
            </a:r>
            <a:endParaRPr lang="en-US" sz="800" dirty="0"/>
          </a:p>
        </p:txBody>
      </p:sp>
      <p:sp>
        <p:nvSpPr>
          <p:cNvPr id="18" name="Shape 13"/>
          <p:cNvSpPr/>
          <p:nvPr/>
        </p:nvSpPr>
        <p:spPr>
          <a:xfrm>
            <a:off x="388620" y="1316736"/>
            <a:ext cx="4114800" cy="4242816"/>
          </a:xfrm>
          <a:prstGeom prst="rect">
            <a:avLst/>
          </a:prstGeom>
          <a:solidFill>
            <a:srgbClr val="EEF2FF"/>
          </a:solidFill>
          <a:ln w="15240">
            <a:solidFill>
              <a:srgbClr val="2E4A78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365760" y="1316736"/>
            <a:ext cx="4114800" cy="292608"/>
          </a:xfrm>
          <a:prstGeom prst="rect">
            <a:avLst/>
          </a:prstGeom>
          <a:solidFill>
            <a:srgbClr val="2E4A78"/>
          </a:solidFill>
          <a:ln w="12700">
            <a:solidFill>
              <a:srgbClr val="2E4A78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475488" y="1316736"/>
            <a:ext cx="3913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DELIVERABLES BY END OF HACKATHON  ★</a:t>
            </a:r>
            <a:endParaRPr lang="en-US" sz="850" dirty="0"/>
          </a:p>
        </p:txBody>
      </p:sp>
      <p:sp>
        <p:nvSpPr>
          <p:cNvPr id="21" name="Text 16"/>
          <p:cNvSpPr/>
          <p:nvPr/>
        </p:nvSpPr>
        <p:spPr>
          <a:xfrm>
            <a:off x="475488" y="1645920"/>
            <a:ext cx="3913632" cy="3877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what you will submit at the end of the 12-hour sprint:</a:t>
            </a:r>
            <a:endParaRPr lang="en-US" sz="950" dirty="0"/>
          </a:p>
          <a:p>
            <a:pPr marL="0" indent="0" algn="l">
              <a:buNone/>
            </a:pPr>
            <a:endParaRPr lang="en-US" sz="950" dirty="0"/>
          </a:p>
          <a:p>
            <a:pPr marL="0" indent="0" algn="l">
              <a:buNone/>
            </a:pPr>
            <a:r>
              <a:rPr lang="en-US" sz="950" i="1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Working prototype / software / simulation</a:t>
            </a:r>
            <a:endParaRPr lang="en-US" sz="950" dirty="0"/>
          </a:p>
          <a:p>
            <a:pPr marL="0" indent="0" algn="l">
              <a:buNone/>
            </a:pPr>
            <a:r>
              <a:rPr lang="en-US" sz="950" i="1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Project Report (max 8 pages, PDF)</a:t>
            </a:r>
            <a:endParaRPr lang="en-US" sz="950" dirty="0"/>
          </a:p>
          <a:p>
            <a:pPr marL="0" indent="0" algn="l">
              <a:buNone/>
            </a:pPr>
            <a:r>
              <a:rPr lang="en-US" sz="950" i="1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5-minute live demo</a:t>
            </a:r>
            <a:endParaRPr lang="en-US" sz="950" dirty="0"/>
          </a:p>
          <a:p>
            <a:pPr marL="0" indent="0" algn="l">
              <a:buNone/>
            </a:pPr>
            <a:r>
              <a:rPr lang="en-US" sz="950" i="1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GitHub repository link (if software)</a:t>
            </a:r>
            <a:endParaRPr lang="en-US" sz="950" dirty="0"/>
          </a:p>
          <a:p>
            <a:pPr marL="0" indent="0" algn="l">
              <a:buNone/>
            </a:pPr>
            <a:endParaRPr lang="en-US" sz="950" dirty="0"/>
          </a:p>
          <a:p>
            <a:pPr marL="0" indent="0" algn="l">
              <a:buNone/>
            </a:pPr>
            <a:r>
              <a:rPr lang="en-US" sz="950" i="1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[Add or modify items specific to your solution]</a:t>
            </a:r>
            <a:endParaRPr lang="en-US" sz="950" dirty="0"/>
          </a:p>
        </p:txBody>
      </p:sp>
      <p:sp>
        <p:nvSpPr>
          <p:cNvPr id="22" name="Shape 17"/>
          <p:cNvSpPr/>
          <p:nvPr/>
        </p:nvSpPr>
        <p:spPr>
          <a:xfrm>
            <a:off x="4663440" y="1316736"/>
            <a:ext cx="3657600" cy="4242816"/>
          </a:xfrm>
          <a:prstGeom prst="rect">
            <a:avLst/>
          </a:prstGeom>
          <a:solidFill>
            <a:srgbClr val="F0F8F2"/>
          </a:solidFill>
          <a:ln w="15240">
            <a:solidFill>
              <a:srgbClr val="2E5E3A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4663440" y="1316736"/>
            <a:ext cx="3657600" cy="292608"/>
          </a:xfrm>
          <a:prstGeom prst="rect">
            <a:avLst/>
          </a:prstGeom>
          <a:solidFill>
            <a:srgbClr val="2E5E3A"/>
          </a:solidFill>
          <a:ln w="12700">
            <a:solidFill>
              <a:srgbClr val="2E5E3A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4773168" y="1316736"/>
            <a:ext cx="3456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CIVIL ENGINEERING RELEVANCE </a:t>
            </a:r>
            <a:r>
              <a:rPr lang="en-US" sz="850" b="1" dirty="0" smtClean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(OPTIONAL) </a:t>
            </a: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850" dirty="0"/>
          </a:p>
        </p:txBody>
      </p:sp>
      <p:sp>
        <p:nvSpPr>
          <p:cNvPr id="25" name="Text 20"/>
          <p:cNvSpPr/>
          <p:nvPr/>
        </p:nvSpPr>
        <p:spPr>
          <a:xfrm>
            <a:off x="4773168" y="1645920"/>
            <a:ext cx="3456432" cy="3877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how your solution directly applies to civil engineering or infrastructure:</a:t>
            </a:r>
            <a:endParaRPr lang="en-US" sz="950" dirty="0"/>
          </a:p>
          <a:p>
            <a:pPr marL="0" indent="0" algn="l">
              <a:buNone/>
            </a:pPr>
            <a:endParaRPr lang="en-US" sz="950" dirty="0"/>
          </a:p>
          <a:p>
            <a:pPr marL="0" indent="0" algn="l">
              <a:buNone/>
            </a:pPr>
            <a:r>
              <a:rPr lang="en-US" sz="950" i="1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Which sector does it address? (e.g. Roads, Water, Structures, Environment)</a:t>
            </a:r>
            <a:endParaRPr lang="en-US" sz="950" dirty="0"/>
          </a:p>
          <a:p>
            <a:pPr marL="0" indent="0" algn="l">
              <a:buNone/>
            </a:pPr>
            <a:r>
              <a:rPr lang="en-US" sz="950" i="1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How does it improve civil engineering practice?</a:t>
            </a:r>
            <a:endParaRPr lang="en-US" sz="950" dirty="0"/>
          </a:p>
          <a:p>
            <a:pPr marL="0" indent="0" algn="l">
              <a:buNone/>
            </a:pPr>
            <a:r>
              <a:rPr lang="en-US" sz="950" i="1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Could this be deployed in a real project?</a:t>
            </a:r>
            <a:endParaRPr lang="en-US" sz="950" dirty="0"/>
          </a:p>
          <a:p>
            <a:pPr marL="0" indent="0" algn="l">
              <a:buNone/>
            </a:pPr>
            <a:endParaRPr lang="en-US" sz="950" dirty="0"/>
          </a:p>
          <a:p>
            <a:pPr marL="0" indent="0" algn="l">
              <a:buNone/>
            </a:pPr>
            <a:r>
              <a:rPr lang="en-US" sz="950" i="1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[Explain the civil engineering connection clearly — this carries 15 marks in judging!]</a:t>
            </a:r>
            <a:endParaRPr lang="en-US" sz="950" dirty="0"/>
          </a:p>
        </p:txBody>
      </p:sp>
      <p:sp>
        <p:nvSpPr>
          <p:cNvPr id="26" name="Shape 21"/>
          <p:cNvSpPr/>
          <p:nvPr/>
        </p:nvSpPr>
        <p:spPr>
          <a:xfrm>
            <a:off x="8503920" y="1316736"/>
            <a:ext cx="3310128" cy="1975104"/>
          </a:xfrm>
          <a:prstGeom prst="rect">
            <a:avLst/>
          </a:prstGeom>
          <a:solidFill>
            <a:srgbClr val="FFF8E8"/>
          </a:solidFill>
          <a:ln w="15240">
            <a:solidFill>
              <a:srgbClr val="B07A0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8503920" y="1316736"/>
            <a:ext cx="3310128" cy="292608"/>
          </a:xfrm>
          <a:prstGeom prst="rect">
            <a:avLst/>
          </a:prstGeom>
          <a:solidFill>
            <a:srgbClr val="B07A00"/>
          </a:solidFill>
          <a:ln w="12700">
            <a:solidFill>
              <a:srgbClr val="B07A00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8613648" y="1316736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MEASURABLE OUTCOMES  ★</a:t>
            </a:r>
            <a:endParaRPr lang="en-US" sz="850" dirty="0"/>
          </a:p>
        </p:txBody>
      </p:sp>
      <p:sp>
        <p:nvSpPr>
          <p:cNvPr id="29" name="Text 24"/>
          <p:cNvSpPr/>
          <p:nvPr/>
        </p:nvSpPr>
        <p:spPr>
          <a:xfrm>
            <a:off x="8613648" y="1645920"/>
            <a:ext cx="3108960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2–3 specific, measurable outcomes your solution will achieve:</a:t>
            </a:r>
            <a:endParaRPr lang="en-US" sz="950" dirty="0"/>
          </a:p>
          <a:p>
            <a:pPr marL="0" indent="0" algn="l">
              <a:buNone/>
            </a:pPr>
            <a:endParaRPr lang="en-US" sz="950" dirty="0"/>
          </a:p>
          <a:p>
            <a:pPr marL="0" indent="0" algn="l">
              <a:buNone/>
            </a:pPr>
            <a:r>
              <a:rPr lang="en-US" sz="950" i="1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[e.g. 40% reduction in response time]</a:t>
            </a:r>
            <a:endParaRPr lang="en-US" sz="950" dirty="0"/>
          </a:p>
          <a:p>
            <a:pPr marL="0" indent="0" algn="l">
              <a:buNone/>
            </a:pPr>
            <a:r>
              <a:rPr lang="en-US" sz="950" i="1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[e.g. 95% detection accuracy]</a:t>
            </a:r>
            <a:endParaRPr lang="en-US" sz="950" dirty="0"/>
          </a:p>
          <a:p>
            <a:pPr marL="0" indent="0" algn="l">
              <a:buNone/>
            </a:pPr>
            <a:r>
              <a:rPr lang="en-US" sz="950" i="1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[e.g. 60% cost reduction vs current method]</a:t>
            </a:r>
            <a:endParaRPr lang="en-US" sz="950" dirty="0"/>
          </a:p>
        </p:txBody>
      </p:sp>
      <p:sp>
        <p:nvSpPr>
          <p:cNvPr id="30" name="Shape 25"/>
          <p:cNvSpPr/>
          <p:nvPr/>
        </p:nvSpPr>
        <p:spPr>
          <a:xfrm>
            <a:off x="8503920" y="3438144"/>
            <a:ext cx="3310128" cy="2121408"/>
          </a:xfrm>
          <a:prstGeom prst="rect">
            <a:avLst/>
          </a:prstGeom>
          <a:solidFill>
            <a:srgbClr val="F8F6F0"/>
          </a:solidFill>
          <a:ln w="15240">
            <a:solidFill>
              <a:srgbClr val="E8E4DC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8503920" y="3438144"/>
            <a:ext cx="3310128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2" name="Text 27"/>
          <p:cNvSpPr/>
          <p:nvPr/>
        </p:nvSpPr>
        <p:spPr>
          <a:xfrm>
            <a:off x="8613648" y="3438144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SCALABILITY &amp; FUTURE SCOPE</a:t>
            </a:r>
            <a:endParaRPr lang="en-US" sz="850" dirty="0"/>
          </a:p>
        </p:txBody>
      </p:sp>
      <p:sp>
        <p:nvSpPr>
          <p:cNvPr id="33" name="Text 28"/>
          <p:cNvSpPr/>
          <p:nvPr/>
        </p:nvSpPr>
        <p:spPr>
          <a:xfrm>
            <a:off x="8613648" y="3767328"/>
            <a:ext cx="3108960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can your solution scale beyond the hackathon?</a:t>
            </a:r>
            <a:endParaRPr lang="en-US" sz="950" dirty="0"/>
          </a:p>
          <a:p>
            <a:pPr marL="0" indent="0" algn="l">
              <a:buNone/>
            </a:pPr>
            <a:endParaRPr lang="en-US" sz="950" dirty="0"/>
          </a:p>
          <a:p>
            <a:pPr marL="0" indent="0" algn="l">
              <a:buNone/>
            </a:pPr>
            <a:r>
              <a:rPr lang="en-US" sz="950" i="1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Deployment potential (city, state, national)</a:t>
            </a:r>
            <a:endParaRPr lang="en-US" sz="950" dirty="0"/>
          </a:p>
          <a:p>
            <a:pPr marL="0" indent="0" algn="l">
              <a:buNone/>
            </a:pPr>
            <a:r>
              <a:rPr lang="en-US" sz="950" i="1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Industries or sectors it can expand to</a:t>
            </a:r>
            <a:endParaRPr lang="en-US" sz="950" dirty="0"/>
          </a:p>
          <a:p>
            <a:pPr marL="0" indent="0" algn="l">
              <a:buNone/>
            </a:pPr>
            <a:r>
              <a:rPr lang="en-US" sz="950" i="1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Future enhancements planned</a:t>
            </a:r>
            <a:endParaRPr lang="en-US" sz="950" dirty="0"/>
          </a:p>
          <a:p>
            <a:pPr marL="0" indent="0" algn="l">
              <a:buNone/>
            </a:pPr>
            <a:endParaRPr lang="en-US" sz="950" dirty="0"/>
          </a:p>
          <a:p>
            <a:pPr marL="0" indent="0" algn="l">
              <a:buNone/>
            </a:pPr>
            <a:r>
              <a:rPr lang="en-US" sz="950" i="1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[Optional: mention if it aligns with any government scheme like Smart Cities Mission, AMRUT, PM Gati Shakti, etc.]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21792"/>
            <a:ext cx="12188952" cy="45720"/>
          </a:xfrm>
          <a:prstGeom prst="rect">
            <a:avLst/>
          </a:prstGeom>
          <a:solidFill>
            <a:srgbClr val="D4940A"/>
          </a:solidFill>
          <a:ln w="12700">
            <a:solidFill>
              <a:srgbClr val="D4940A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" y="36576"/>
            <a:ext cx="530352" cy="530352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48872" y="36576"/>
            <a:ext cx="530352" cy="53035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31520" y="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AVLOKAN 2026  |  HACKATHON </a:t>
            </a:r>
            <a:endParaRPr lang="en-US" sz="1300" dirty="0"/>
          </a:p>
        </p:txBody>
      </p:sp>
      <p:sp>
        <p:nvSpPr>
          <p:cNvPr id="7" name="Text 3"/>
          <p:cNvSpPr/>
          <p:nvPr/>
        </p:nvSpPr>
        <p:spPr>
          <a:xfrm>
            <a:off x="731520" y="32004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F5E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Dept. of Civil Engineering, B.I.T. Sindri  |  avlokan.acebits.in</a:t>
            </a:r>
            <a:endParaRPr lang="en-US" sz="850" dirty="0"/>
          </a:p>
        </p:txBody>
      </p:sp>
      <p:sp>
        <p:nvSpPr>
          <p:cNvPr id="8" name="Shape 4"/>
          <p:cNvSpPr/>
          <p:nvPr/>
        </p:nvSpPr>
        <p:spPr>
          <a:xfrm>
            <a:off x="11530584" y="347472"/>
            <a:ext cx="0" cy="0"/>
          </a:xfrm>
          <a:prstGeom prst="rect">
            <a:avLst/>
          </a:prstGeom>
          <a:solidFill>
            <a:srgbClr val="D4940A"/>
          </a:solidFill>
          <a:ln/>
        </p:spPr>
      </p:sp>
      <p:sp>
        <p:nvSpPr>
          <p:cNvPr id="9" name="Text 5"/>
          <p:cNvSpPr/>
          <p:nvPr/>
        </p:nvSpPr>
        <p:spPr>
          <a:xfrm>
            <a:off x="8988552" y="301752"/>
            <a:ext cx="2487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F0C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7 OF 8</a:t>
            </a:r>
            <a:endParaRPr lang="en-US" sz="750" dirty="0"/>
          </a:p>
        </p:txBody>
      </p:sp>
      <p:sp>
        <p:nvSpPr>
          <p:cNvPr id="10" name="Shape 6"/>
          <p:cNvSpPr/>
          <p:nvPr/>
        </p:nvSpPr>
        <p:spPr>
          <a:xfrm>
            <a:off x="365760" y="749808"/>
            <a:ext cx="11457432" cy="47548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365760" y="1188720"/>
            <a:ext cx="11457432" cy="36576"/>
          </a:xfrm>
          <a:prstGeom prst="rect">
            <a:avLst/>
          </a:prstGeom>
          <a:solidFill>
            <a:srgbClr val="D4940A"/>
          </a:solidFill>
          <a:ln w="12700">
            <a:solidFill>
              <a:srgbClr val="D4940A"/>
            </a:solidFill>
            <a:prstDash val="solid"/>
          </a:ln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" y="804672"/>
            <a:ext cx="347472" cy="34747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14400" y="749808"/>
            <a:ext cx="108173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kern="0" spc="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DETAILS &amp; MEMBER PROFILES</a:t>
            </a:r>
            <a:endParaRPr lang="en-US" sz="1700" dirty="0"/>
          </a:p>
        </p:txBody>
      </p:sp>
      <p:sp>
        <p:nvSpPr>
          <p:cNvPr id="14" name="Shape 9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243860"/>
          </a:solidFill>
          <a:ln w="12700">
            <a:solidFill>
              <a:srgbClr val="243860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0" y="6565392"/>
            <a:ext cx="12188952" cy="27432"/>
          </a:xfrm>
          <a:prstGeom prst="rect">
            <a:avLst/>
          </a:prstGeom>
          <a:solidFill>
            <a:srgbClr val="D4940A"/>
          </a:solidFill>
          <a:ln w="12700">
            <a:solidFill>
              <a:srgbClr val="D4940A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182880" y="6583680"/>
            <a:ext cx="10817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i="1" dirty="0">
                <a:solidFill>
                  <a:srgbClr val="F5E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acebitsindri@gmail.com  |  avlokan.acebits.in  |  ACE, B.I.T. Sindri</a:t>
            </a:r>
            <a:endParaRPr lang="en-US" sz="750" dirty="0"/>
          </a:p>
        </p:txBody>
      </p:sp>
      <p:sp>
        <p:nvSpPr>
          <p:cNvPr id="17" name="Text 12"/>
          <p:cNvSpPr/>
          <p:nvPr/>
        </p:nvSpPr>
        <p:spPr>
          <a:xfrm>
            <a:off x="11457432" y="658368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0C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8</a:t>
            </a:r>
            <a:endParaRPr lang="en-US" sz="800" dirty="0"/>
          </a:p>
        </p:txBody>
      </p:sp>
      <p:sp>
        <p:nvSpPr>
          <p:cNvPr id="18" name="Shape 13"/>
          <p:cNvSpPr/>
          <p:nvPr/>
        </p:nvSpPr>
        <p:spPr>
          <a:xfrm>
            <a:off x="365760" y="1316736"/>
            <a:ext cx="11457432" cy="512064"/>
          </a:xfrm>
          <a:prstGeom prst="rect">
            <a:avLst/>
          </a:prstGeom>
          <a:solidFill>
            <a:srgbClr val="B07A00"/>
          </a:solidFill>
          <a:ln w="12700">
            <a:solidFill>
              <a:srgbClr val="B07A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4"/>
          <p:cNvSpPr/>
          <p:nvPr/>
        </p:nvSpPr>
        <p:spPr>
          <a:xfrm>
            <a:off x="502920" y="1316736"/>
            <a:ext cx="111831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NAME:  [Enter Team Name]   |   INSTITUTE:  [Enter Full College Name]   |   AVLOKAN 2026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365760" y="1956816"/>
            <a:ext cx="5541264" cy="2029968"/>
          </a:xfrm>
          <a:prstGeom prst="rect">
            <a:avLst/>
          </a:prstGeom>
          <a:solidFill>
            <a:srgbClr val="EEF2FF"/>
          </a:solidFill>
          <a:ln w="25400">
            <a:solidFill>
              <a:srgbClr val="1B2A4A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365760" y="1956816"/>
            <a:ext cx="5541264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475488" y="1956816"/>
            <a:ext cx="5321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0C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LEADER  ★</a:t>
            </a:r>
            <a:endParaRPr lang="en-US" sz="900" dirty="0"/>
          </a:p>
        </p:txBody>
      </p:sp>
      <p:sp>
        <p:nvSpPr>
          <p:cNvPr id="23" name="Shape 18"/>
          <p:cNvSpPr/>
          <p:nvPr/>
        </p:nvSpPr>
        <p:spPr>
          <a:xfrm>
            <a:off x="475488" y="2322576"/>
            <a:ext cx="658368" cy="658368"/>
          </a:xfrm>
          <a:prstGeom prst="ellipse">
            <a:avLst/>
          </a:prstGeom>
          <a:solidFill>
            <a:srgbClr val="E8E4DC"/>
          </a:solidFill>
          <a:ln w="12700">
            <a:solidFill>
              <a:srgbClr val="AAAAAA"/>
            </a:solidFill>
            <a:prstDash val="solid"/>
          </a:ln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776" y="2340864"/>
            <a:ext cx="621792" cy="621792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243584" y="232257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Name:</a:t>
            </a:r>
            <a:endParaRPr lang="en-US" sz="750" dirty="0"/>
          </a:p>
        </p:txBody>
      </p:sp>
      <p:sp>
        <p:nvSpPr>
          <p:cNvPr id="26" name="Text 20"/>
          <p:cNvSpPr/>
          <p:nvPr/>
        </p:nvSpPr>
        <p:spPr>
          <a:xfrm>
            <a:off x="1243584" y="250545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[Enter full name]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3118104" y="2322576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 No.:</a:t>
            </a:r>
            <a:endParaRPr lang="en-US" sz="750" dirty="0"/>
          </a:p>
        </p:txBody>
      </p:sp>
      <p:sp>
        <p:nvSpPr>
          <p:cNvPr id="28" name="Text 22"/>
          <p:cNvSpPr/>
          <p:nvPr/>
        </p:nvSpPr>
        <p:spPr>
          <a:xfrm>
            <a:off x="3118104" y="2505456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[e.g. 21CE1042]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4352544" y="232257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/ Sem:</a:t>
            </a:r>
            <a:endParaRPr lang="en-US" sz="750" dirty="0"/>
          </a:p>
        </p:txBody>
      </p:sp>
      <p:sp>
        <p:nvSpPr>
          <p:cNvPr id="30" name="Text 24"/>
          <p:cNvSpPr/>
          <p:nvPr/>
        </p:nvSpPr>
        <p:spPr>
          <a:xfrm>
            <a:off x="4352544" y="250545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[e.g. 3rd Year, 6th Sem]</a:t>
            </a:r>
            <a:endParaRPr lang="en-US" sz="900" dirty="0"/>
          </a:p>
        </p:txBody>
      </p:sp>
      <p:sp>
        <p:nvSpPr>
          <p:cNvPr id="31" name="Text 25"/>
          <p:cNvSpPr/>
          <p:nvPr/>
        </p:nvSpPr>
        <p:spPr>
          <a:xfrm>
            <a:off x="1243584" y="277977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Branch / Dept:</a:t>
            </a:r>
            <a:endParaRPr lang="en-US" sz="750" dirty="0"/>
          </a:p>
        </p:txBody>
      </p:sp>
      <p:sp>
        <p:nvSpPr>
          <p:cNvPr id="32" name="Text 26"/>
          <p:cNvSpPr/>
          <p:nvPr/>
        </p:nvSpPr>
        <p:spPr>
          <a:xfrm>
            <a:off x="1243584" y="2962656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[e.g. Civil Engineering / Computer Science / Mechanical Engineering]</a:t>
            </a:r>
            <a:endParaRPr lang="en-US" sz="900" dirty="0"/>
          </a:p>
        </p:txBody>
      </p:sp>
      <p:sp>
        <p:nvSpPr>
          <p:cNvPr id="33" name="Text 27"/>
          <p:cNvSpPr/>
          <p:nvPr/>
        </p:nvSpPr>
        <p:spPr>
          <a:xfrm>
            <a:off x="475488" y="3236976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Skills / Role in project:</a:t>
            </a:r>
            <a:endParaRPr lang="en-US" sz="750" dirty="0"/>
          </a:p>
        </p:txBody>
      </p:sp>
      <p:sp>
        <p:nvSpPr>
          <p:cNvPr id="34" name="Text 28"/>
          <p:cNvSpPr/>
          <p:nvPr/>
        </p:nvSpPr>
        <p:spPr>
          <a:xfrm>
            <a:off x="475488" y="3419856"/>
            <a:ext cx="53400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[e.g. Frontend Dev  /  ML Engineer  /  Hardware Design  /  Documentation  /  Surveying  /  Project Lead]</a:t>
            </a:r>
            <a:endParaRPr lang="en-US" sz="900" dirty="0"/>
          </a:p>
        </p:txBody>
      </p:sp>
      <p:sp>
        <p:nvSpPr>
          <p:cNvPr id="35" name="Shape 29"/>
          <p:cNvSpPr/>
          <p:nvPr/>
        </p:nvSpPr>
        <p:spPr>
          <a:xfrm>
            <a:off x="6281928" y="1956816"/>
            <a:ext cx="5541264" cy="2029968"/>
          </a:xfrm>
          <a:prstGeom prst="rect">
            <a:avLst/>
          </a:prstGeom>
          <a:solidFill>
            <a:srgbClr val="F8F6F0"/>
          </a:solidFill>
          <a:ln w="15240">
            <a:solidFill>
              <a:srgbClr val="E8E4DC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6" name="Shape 30"/>
          <p:cNvSpPr/>
          <p:nvPr/>
        </p:nvSpPr>
        <p:spPr>
          <a:xfrm>
            <a:off x="6281928" y="1956816"/>
            <a:ext cx="5541264" cy="292608"/>
          </a:xfrm>
          <a:prstGeom prst="rect">
            <a:avLst/>
          </a:prstGeom>
          <a:solidFill>
            <a:srgbClr val="243860"/>
          </a:solidFill>
          <a:ln w="12700">
            <a:solidFill>
              <a:srgbClr val="243860"/>
            </a:solidFill>
            <a:prstDash val="solid"/>
          </a:ln>
        </p:spPr>
      </p:sp>
      <p:sp>
        <p:nvSpPr>
          <p:cNvPr id="37" name="Text 31"/>
          <p:cNvSpPr/>
          <p:nvPr/>
        </p:nvSpPr>
        <p:spPr>
          <a:xfrm>
            <a:off x="6391656" y="1956816"/>
            <a:ext cx="5321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MEMBER 2</a:t>
            </a:r>
            <a:endParaRPr lang="en-US" sz="900" dirty="0"/>
          </a:p>
        </p:txBody>
      </p:sp>
      <p:sp>
        <p:nvSpPr>
          <p:cNvPr id="38" name="Shape 32"/>
          <p:cNvSpPr/>
          <p:nvPr/>
        </p:nvSpPr>
        <p:spPr>
          <a:xfrm>
            <a:off x="6391656" y="2322576"/>
            <a:ext cx="658368" cy="658368"/>
          </a:xfrm>
          <a:prstGeom prst="ellipse">
            <a:avLst/>
          </a:prstGeom>
          <a:solidFill>
            <a:srgbClr val="E8E4DC"/>
          </a:solidFill>
          <a:ln w="12700">
            <a:solidFill>
              <a:srgbClr val="AAAAAA"/>
            </a:solidFill>
            <a:prstDash val="solid"/>
          </a:ln>
        </p:spPr>
      </p:sp>
      <p:pic>
        <p:nvPicPr>
          <p:cNvPr id="39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9944" y="2340864"/>
            <a:ext cx="621792" cy="621792"/>
          </a:xfrm>
          <a:prstGeom prst="rect">
            <a:avLst/>
          </a:prstGeom>
        </p:spPr>
      </p:pic>
      <p:sp>
        <p:nvSpPr>
          <p:cNvPr id="40" name="Text 33"/>
          <p:cNvSpPr/>
          <p:nvPr/>
        </p:nvSpPr>
        <p:spPr>
          <a:xfrm>
            <a:off x="7159752" y="232257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2438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Name:</a:t>
            </a:r>
            <a:endParaRPr lang="en-US" sz="750" dirty="0"/>
          </a:p>
        </p:txBody>
      </p:sp>
      <p:sp>
        <p:nvSpPr>
          <p:cNvPr id="41" name="Text 34"/>
          <p:cNvSpPr/>
          <p:nvPr/>
        </p:nvSpPr>
        <p:spPr>
          <a:xfrm>
            <a:off x="7159752" y="250545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[Enter full name]</a:t>
            </a:r>
            <a:endParaRPr lang="en-US" sz="900" dirty="0"/>
          </a:p>
        </p:txBody>
      </p:sp>
      <p:sp>
        <p:nvSpPr>
          <p:cNvPr id="42" name="Text 35"/>
          <p:cNvSpPr/>
          <p:nvPr/>
        </p:nvSpPr>
        <p:spPr>
          <a:xfrm>
            <a:off x="9034272" y="2322576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2438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 No.:</a:t>
            </a:r>
            <a:endParaRPr lang="en-US" sz="750" dirty="0"/>
          </a:p>
        </p:txBody>
      </p:sp>
      <p:sp>
        <p:nvSpPr>
          <p:cNvPr id="43" name="Text 36"/>
          <p:cNvSpPr/>
          <p:nvPr/>
        </p:nvSpPr>
        <p:spPr>
          <a:xfrm>
            <a:off x="9034272" y="2505456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[e.g. 21CE1042]</a:t>
            </a:r>
            <a:endParaRPr lang="en-US" sz="900" dirty="0"/>
          </a:p>
        </p:txBody>
      </p:sp>
      <p:sp>
        <p:nvSpPr>
          <p:cNvPr id="44" name="Text 37"/>
          <p:cNvSpPr/>
          <p:nvPr/>
        </p:nvSpPr>
        <p:spPr>
          <a:xfrm>
            <a:off x="10268712" y="232257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2438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/ Sem:</a:t>
            </a:r>
            <a:endParaRPr lang="en-US" sz="750" dirty="0"/>
          </a:p>
        </p:txBody>
      </p:sp>
      <p:sp>
        <p:nvSpPr>
          <p:cNvPr id="45" name="Text 38"/>
          <p:cNvSpPr/>
          <p:nvPr/>
        </p:nvSpPr>
        <p:spPr>
          <a:xfrm>
            <a:off x="10268712" y="250545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[e.g. 3rd Year, 6th Sem]</a:t>
            </a:r>
            <a:endParaRPr lang="en-US" sz="900" dirty="0"/>
          </a:p>
        </p:txBody>
      </p:sp>
      <p:sp>
        <p:nvSpPr>
          <p:cNvPr id="46" name="Text 39"/>
          <p:cNvSpPr/>
          <p:nvPr/>
        </p:nvSpPr>
        <p:spPr>
          <a:xfrm>
            <a:off x="7159752" y="277977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2438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Branch / Dept:</a:t>
            </a:r>
            <a:endParaRPr lang="en-US" sz="750" dirty="0"/>
          </a:p>
        </p:txBody>
      </p:sp>
      <p:sp>
        <p:nvSpPr>
          <p:cNvPr id="47" name="Text 40"/>
          <p:cNvSpPr/>
          <p:nvPr/>
        </p:nvSpPr>
        <p:spPr>
          <a:xfrm>
            <a:off x="7159752" y="2962656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[e.g. Civil Engineering / Computer Science / Mechanical Engineering]</a:t>
            </a:r>
            <a:endParaRPr lang="en-US" sz="900" dirty="0"/>
          </a:p>
        </p:txBody>
      </p:sp>
      <p:sp>
        <p:nvSpPr>
          <p:cNvPr id="48" name="Text 41"/>
          <p:cNvSpPr/>
          <p:nvPr/>
        </p:nvSpPr>
        <p:spPr>
          <a:xfrm>
            <a:off x="6391656" y="3236976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2438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Skills / Role in project:</a:t>
            </a:r>
            <a:endParaRPr lang="en-US" sz="750" dirty="0"/>
          </a:p>
        </p:txBody>
      </p:sp>
      <p:sp>
        <p:nvSpPr>
          <p:cNvPr id="49" name="Text 42"/>
          <p:cNvSpPr/>
          <p:nvPr/>
        </p:nvSpPr>
        <p:spPr>
          <a:xfrm>
            <a:off x="6391656" y="3419856"/>
            <a:ext cx="53400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[e.g. Frontend Dev  /  ML Engineer  /  Hardware Design  /  Documentation  /  Surveying  /  Project Lead]</a:t>
            </a:r>
            <a:endParaRPr lang="en-US" sz="900" dirty="0"/>
          </a:p>
        </p:txBody>
      </p:sp>
      <p:sp>
        <p:nvSpPr>
          <p:cNvPr id="50" name="Shape 43"/>
          <p:cNvSpPr/>
          <p:nvPr/>
        </p:nvSpPr>
        <p:spPr>
          <a:xfrm>
            <a:off x="365760" y="4247388"/>
            <a:ext cx="5541264" cy="2029968"/>
          </a:xfrm>
          <a:prstGeom prst="rect">
            <a:avLst/>
          </a:prstGeom>
          <a:solidFill>
            <a:srgbClr val="F8F6F0"/>
          </a:solidFill>
          <a:ln w="15240">
            <a:solidFill>
              <a:srgbClr val="E8E4DC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1" name="Shape 44"/>
          <p:cNvSpPr/>
          <p:nvPr/>
        </p:nvSpPr>
        <p:spPr>
          <a:xfrm>
            <a:off x="365760" y="4224528"/>
            <a:ext cx="5541264" cy="292608"/>
          </a:xfrm>
          <a:prstGeom prst="rect">
            <a:avLst/>
          </a:prstGeom>
          <a:solidFill>
            <a:srgbClr val="243860"/>
          </a:solidFill>
          <a:ln w="12700">
            <a:solidFill>
              <a:srgbClr val="243860"/>
            </a:solidFill>
            <a:prstDash val="solid"/>
          </a:ln>
        </p:spPr>
      </p:sp>
      <p:sp>
        <p:nvSpPr>
          <p:cNvPr id="52" name="Text 45"/>
          <p:cNvSpPr/>
          <p:nvPr/>
        </p:nvSpPr>
        <p:spPr>
          <a:xfrm>
            <a:off x="475488" y="4224528"/>
            <a:ext cx="5321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MEMBER 3</a:t>
            </a:r>
            <a:endParaRPr lang="en-US" sz="900" dirty="0"/>
          </a:p>
        </p:txBody>
      </p:sp>
      <p:sp>
        <p:nvSpPr>
          <p:cNvPr id="53" name="Shape 46"/>
          <p:cNvSpPr/>
          <p:nvPr/>
        </p:nvSpPr>
        <p:spPr>
          <a:xfrm>
            <a:off x="475488" y="4590288"/>
            <a:ext cx="658368" cy="658368"/>
          </a:xfrm>
          <a:prstGeom prst="ellipse">
            <a:avLst/>
          </a:prstGeom>
          <a:solidFill>
            <a:srgbClr val="E8E4DC"/>
          </a:solidFill>
          <a:ln w="12700">
            <a:solidFill>
              <a:srgbClr val="AAAAAA"/>
            </a:solidFill>
            <a:prstDash val="solid"/>
          </a:ln>
        </p:spPr>
      </p:sp>
      <p:pic>
        <p:nvPicPr>
          <p:cNvPr id="54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776" y="4608576"/>
            <a:ext cx="621792" cy="621792"/>
          </a:xfrm>
          <a:prstGeom prst="rect">
            <a:avLst/>
          </a:prstGeom>
        </p:spPr>
      </p:pic>
      <p:sp>
        <p:nvSpPr>
          <p:cNvPr id="55" name="Text 47"/>
          <p:cNvSpPr/>
          <p:nvPr/>
        </p:nvSpPr>
        <p:spPr>
          <a:xfrm>
            <a:off x="1243584" y="459028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2438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Name:</a:t>
            </a:r>
            <a:endParaRPr lang="en-US" sz="750" dirty="0"/>
          </a:p>
        </p:txBody>
      </p:sp>
      <p:sp>
        <p:nvSpPr>
          <p:cNvPr id="56" name="Text 48"/>
          <p:cNvSpPr/>
          <p:nvPr/>
        </p:nvSpPr>
        <p:spPr>
          <a:xfrm>
            <a:off x="1243584" y="477316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[Enter full name]</a:t>
            </a:r>
            <a:endParaRPr lang="en-US" sz="900" dirty="0"/>
          </a:p>
        </p:txBody>
      </p:sp>
      <p:sp>
        <p:nvSpPr>
          <p:cNvPr id="57" name="Text 49"/>
          <p:cNvSpPr/>
          <p:nvPr/>
        </p:nvSpPr>
        <p:spPr>
          <a:xfrm>
            <a:off x="3118104" y="4590288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2438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 No.:</a:t>
            </a:r>
            <a:endParaRPr lang="en-US" sz="750" dirty="0"/>
          </a:p>
        </p:txBody>
      </p:sp>
      <p:sp>
        <p:nvSpPr>
          <p:cNvPr id="58" name="Text 50"/>
          <p:cNvSpPr/>
          <p:nvPr/>
        </p:nvSpPr>
        <p:spPr>
          <a:xfrm>
            <a:off x="3118104" y="4773168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[e.g. 21CE1042]</a:t>
            </a:r>
            <a:endParaRPr lang="en-US" sz="900" dirty="0"/>
          </a:p>
        </p:txBody>
      </p:sp>
      <p:sp>
        <p:nvSpPr>
          <p:cNvPr id="59" name="Text 51"/>
          <p:cNvSpPr/>
          <p:nvPr/>
        </p:nvSpPr>
        <p:spPr>
          <a:xfrm>
            <a:off x="4352544" y="459028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2438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/ Sem:</a:t>
            </a:r>
            <a:endParaRPr lang="en-US" sz="750" dirty="0"/>
          </a:p>
        </p:txBody>
      </p:sp>
      <p:sp>
        <p:nvSpPr>
          <p:cNvPr id="60" name="Text 52"/>
          <p:cNvSpPr/>
          <p:nvPr/>
        </p:nvSpPr>
        <p:spPr>
          <a:xfrm>
            <a:off x="4352544" y="477316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[e.g. 3rd Year, 6th Sem]</a:t>
            </a:r>
            <a:endParaRPr lang="en-US" sz="900" dirty="0"/>
          </a:p>
        </p:txBody>
      </p:sp>
      <p:sp>
        <p:nvSpPr>
          <p:cNvPr id="61" name="Text 53"/>
          <p:cNvSpPr/>
          <p:nvPr/>
        </p:nvSpPr>
        <p:spPr>
          <a:xfrm>
            <a:off x="1243584" y="504748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2438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Branch / Dept:</a:t>
            </a:r>
            <a:endParaRPr lang="en-US" sz="750" dirty="0"/>
          </a:p>
        </p:txBody>
      </p:sp>
      <p:sp>
        <p:nvSpPr>
          <p:cNvPr id="62" name="Text 54"/>
          <p:cNvSpPr/>
          <p:nvPr/>
        </p:nvSpPr>
        <p:spPr>
          <a:xfrm>
            <a:off x="1243584" y="523036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[e.g. Civil Engineering / Computer Science / Mechanical Engineering]</a:t>
            </a:r>
            <a:endParaRPr lang="en-US" sz="900" dirty="0"/>
          </a:p>
        </p:txBody>
      </p:sp>
      <p:sp>
        <p:nvSpPr>
          <p:cNvPr id="63" name="Text 55"/>
          <p:cNvSpPr/>
          <p:nvPr/>
        </p:nvSpPr>
        <p:spPr>
          <a:xfrm>
            <a:off x="475488" y="550468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2438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Skills / Role in project:</a:t>
            </a:r>
            <a:endParaRPr lang="en-US" sz="750" dirty="0"/>
          </a:p>
        </p:txBody>
      </p:sp>
      <p:sp>
        <p:nvSpPr>
          <p:cNvPr id="64" name="Text 56"/>
          <p:cNvSpPr/>
          <p:nvPr/>
        </p:nvSpPr>
        <p:spPr>
          <a:xfrm>
            <a:off x="475488" y="5687568"/>
            <a:ext cx="53400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[e.g. Frontend Dev  /  ML Engineer  /  Hardware Design  /  Documentation  /  Surveying  /  Project Lead]</a:t>
            </a:r>
            <a:endParaRPr lang="en-US" sz="900" dirty="0"/>
          </a:p>
        </p:txBody>
      </p:sp>
      <p:sp>
        <p:nvSpPr>
          <p:cNvPr id="65" name="Shape 57"/>
          <p:cNvSpPr/>
          <p:nvPr/>
        </p:nvSpPr>
        <p:spPr>
          <a:xfrm>
            <a:off x="6281928" y="4224528"/>
            <a:ext cx="5541264" cy="2029968"/>
          </a:xfrm>
          <a:prstGeom prst="rect">
            <a:avLst/>
          </a:prstGeom>
          <a:solidFill>
            <a:srgbClr val="F8F6F0"/>
          </a:solidFill>
          <a:ln w="15240">
            <a:solidFill>
              <a:srgbClr val="E8E4DC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6" name="Shape 58"/>
          <p:cNvSpPr/>
          <p:nvPr/>
        </p:nvSpPr>
        <p:spPr>
          <a:xfrm>
            <a:off x="6281928" y="4224528"/>
            <a:ext cx="5541264" cy="292608"/>
          </a:xfrm>
          <a:prstGeom prst="rect">
            <a:avLst/>
          </a:prstGeom>
          <a:solidFill>
            <a:srgbClr val="243860"/>
          </a:solidFill>
          <a:ln w="12700">
            <a:solidFill>
              <a:srgbClr val="243860"/>
            </a:solidFill>
            <a:prstDash val="solid"/>
          </a:ln>
        </p:spPr>
      </p:sp>
      <p:sp>
        <p:nvSpPr>
          <p:cNvPr id="67" name="Text 59"/>
          <p:cNvSpPr/>
          <p:nvPr/>
        </p:nvSpPr>
        <p:spPr>
          <a:xfrm>
            <a:off x="6391656" y="4224528"/>
            <a:ext cx="5321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MEMBER 4 (if applicable)</a:t>
            </a:r>
            <a:endParaRPr lang="en-US" sz="900" dirty="0"/>
          </a:p>
        </p:txBody>
      </p:sp>
      <p:sp>
        <p:nvSpPr>
          <p:cNvPr id="68" name="Shape 60"/>
          <p:cNvSpPr/>
          <p:nvPr/>
        </p:nvSpPr>
        <p:spPr>
          <a:xfrm>
            <a:off x="6391656" y="4590288"/>
            <a:ext cx="658368" cy="658368"/>
          </a:xfrm>
          <a:prstGeom prst="ellipse">
            <a:avLst/>
          </a:prstGeom>
          <a:solidFill>
            <a:srgbClr val="E8E4DC"/>
          </a:solidFill>
          <a:ln w="12700">
            <a:solidFill>
              <a:srgbClr val="AAAAAA"/>
            </a:solidFill>
            <a:prstDash val="solid"/>
          </a:ln>
        </p:spPr>
      </p:sp>
      <p:pic>
        <p:nvPicPr>
          <p:cNvPr id="69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9944" y="4608576"/>
            <a:ext cx="621792" cy="621792"/>
          </a:xfrm>
          <a:prstGeom prst="rect">
            <a:avLst/>
          </a:prstGeom>
        </p:spPr>
      </p:pic>
      <p:sp>
        <p:nvSpPr>
          <p:cNvPr id="70" name="Text 61"/>
          <p:cNvSpPr/>
          <p:nvPr/>
        </p:nvSpPr>
        <p:spPr>
          <a:xfrm>
            <a:off x="7159752" y="459028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2438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Name:</a:t>
            </a:r>
            <a:endParaRPr lang="en-US" sz="750" dirty="0"/>
          </a:p>
        </p:txBody>
      </p:sp>
      <p:sp>
        <p:nvSpPr>
          <p:cNvPr id="71" name="Text 62"/>
          <p:cNvSpPr/>
          <p:nvPr/>
        </p:nvSpPr>
        <p:spPr>
          <a:xfrm>
            <a:off x="7159752" y="477316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[Enter full name]</a:t>
            </a:r>
            <a:endParaRPr lang="en-US" sz="900" dirty="0"/>
          </a:p>
        </p:txBody>
      </p:sp>
      <p:sp>
        <p:nvSpPr>
          <p:cNvPr id="72" name="Text 63"/>
          <p:cNvSpPr/>
          <p:nvPr/>
        </p:nvSpPr>
        <p:spPr>
          <a:xfrm>
            <a:off x="9034272" y="4590288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2438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 No.:</a:t>
            </a:r>
            <a:endParaRPr lang="en-US" sz="750" dirty="0"/>
          </a:p>
        </p:txBody>
      </p:sp>
      <p:sp>
        <p:nvSpPr>
          <p:cNvPr id="73" name="Text 64"/>
          <p:cNvSpPr/>
          <p:nvPr/>
        </p:nvSpPr>
        <p:spPr>
          <a:xfrm>
            <a:off x="9034272" y="4773168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[e.g. 21CE1042]</a:t>
            </a:r>
            <a:endParaRPr lang="en-US" sz="900" dirty="0"/>
          </a:p>
        </p:txBody>
      </p:sp>
      <p:sp>
        <p:nvSpPr>
          <p:cNvPr id="74" name="Text 65"/>
          <p:cNvSpPr/>
          <p:nvPr/>
        </p:nvSpPr>
        <p:spPr>
          <a:xfrm>
            <a:off x="10268712" y="459028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2438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/ Sem:</a:t>
            </a:r>
            <a:endParaRPr lang="en-US" sz="750" dirty="0"/>
          </a:p>
        </p:txBody>
      </p:sp>
      <p:sp>
        <p:nvSpPr>
          <p:cNvPr id="75" name="Text 66"/>
          <p:cNvSpPr/>
          <p:nvPr/>
        </p:nvSpPr>
        <p:spPr>
          <a:xfrm>
            <a:off x="10268712" y="477316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[e.g. 3rd Year, 6th Sem]</a:t>
            </a:r>
            <a:endParaRPr lang="en-US" sz="900" dirty="0"/>
          </a:p>
        </p:txBody>
      </p:sp>
      <p:sp>
        <p:nvSpPr>
          <p:cNvPr id="76" name="Text 67"/>
          <p:cNvSpPr/>
          <p:nvPr/>
        </p:nvSpPr>
        <p:spPr>
          <a:xfrm>
            <a:off x="7159752" y="504748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2438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Branch / Dept:</a:t>
            </a:r>
            <a:endParaRPr lang="en-US" sz="750" dirty="0"/>
          </a:p>
        </p:txBody>
      </p:sp>
      <p:sp>
        <p:nvSpPr>
          <p:cNvPr id="77" name="Text 68"/>
          <p:cNvSpPr/>
          <p:nvPr/>
        </p:nvSpPr>
        <p:spPr>
          <a:xfrm>
            <a:off x="7159752" y="523036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[e.g. Civil Engineering / Computer Science / Mechanical Engineering]</a:t>
            </a:r>
            <a:endParaRPr lang="en-US" sz="900" dirty="0"/>
          </a:p>
        </p:txBody>
      </p:sp>
      <p:sp>
        <p:nvSpPr>
          <p:cNvPr id="78" name="Text 69"/>
          <p:cNvSpPr/>
          <p:nvPr/>
        </p:nvSpPr>
        <p:spPr>
          <a:xfrm>
            <a:off x="6391656" y="550468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2438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Skills / Role in project:</a:t>
            </a:r>
            <a:endParaRPr lang="en-US" sz="750" dirty="0"/>
          </a:p>
        </p:txBody>
      </p:sp>
      <p:sp>
        <p:nvSpPr>
          <p:cNvPr id="79" name="Text 70"/>
          <p:cNvSpPr/>
          <p:nvPr/>
        </p:nvSpPr>
        <p:spPr>
          <a:xfrm>
            <a:off x="6391656" y="5687568"/>
            <a:ext cx="53400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[e.g. Frontend Dev  /  ML Engineer  /  Hardware Design  /  Documentation  /  Surveying  /  Project Lead]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243860"/>
          </a:solidFill>
          <a:ln w="12700">
            <a:solidFill>
              <a:srgbClr val="2438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04672"/>
            <a:ext cx="12188952" cy="54864"/>
          </a:xfrm>
          <a:prstGeom prst="rect">
            <a:avLst/>
          </a:prstGeom>
          <a:solidFill>
            <a:srgbClr val="D4940A"/>
          </a:solidFill>
          <a:ln w="12700">
            <a:solidFill>
              <a:srgbClr val="D4940A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" y="64008"/>
            <a:ext cx="676656" cy="658368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47704" y="64008"/>
            <a:ext cx="676656" cy="65836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005840" y="54864"/>
            <a:ext cx="10177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AVLOKAN 2026  —  HACKATHON </a:t>
            </a:r>
            <a:endParaRPr lang="en-US" sz="1300" dirty="0"/>
          </a:p>
        </p:txBody>
      </p:sp>
      <p:sp>
        <p:nvSpPr>
          <p:cNvPr id="7" name="Text 3"/>
          <p:cNvSpPr/>
          <p:nvPr/>
        </p:nvSpPr>
        <p:spPr>
          <a:xfrm>
            <a:off x="1005840" y="420624"/>
            <a:ext cx="10177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F5E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Association of Civil Engineers (ACE)  ·  Dept. of Civil Engineering, B.I.T. Sindri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914400" y="1005840"/>
            <a:ext cx="103601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400" b="1" kern="0" spc="800" dirty="0">
                <a:solidFill>
                  <a:srgbClr val="F0C0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</a:t>
            </a:r>
            <a:endParaRPr lang="en-US" sz="6400" dirty="0"/>
          </a:p>
        </p:txBody>
      </p:sp>
      <p:sp>
        <p:nvSpPr>
          <p:cNvPr id="9" name="Shape 5"/>
          <p:cNvSpPr/>
          <p:nvPr/>
        </p:nvSpPr>
        <p:spPr>
          <a:xfrm>
            <a:off x="2286000" y="2011680"/>
            <a:ext cx="7616952" cy="54864"/>
          </a:xfrm>
          <a:prstGeom prst="rect">
            <a:avLst/>
          </a:prstGeom>
          <a:solidFill>
            <a:srgbClr val="D4940A"/>
          </a:solidFill>
          <a:ln w="12700">
            <a:solidFill>
              <a:srgbClr val="D4940A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914400" y="2103120"/>
            <a:ext cx="10360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F5E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are excited to review your idea!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1645920" y="2633472"/>
            <a:ext cx="8897112" cy="1938528"/>
          </a:xfrm>
          <a:prstGeom prst="rect">
            <a:avLst/>
          </a:prstGeom>
          <a:solidFill>
            <a:srgbClr val="243860"/>
          </a:solidFill>
          <a:ln w="22860">
            <a:solidFill>
              <a:srgbClr val="D4940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1828800" y="2724912"/>
            <a:ext cx="85313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0C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NAME:  [Your Team Name]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1828800" y="3090672"/>
            <a:ext cx="8531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5E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PROBLEM:  [PS No.]  ·  [Problem Statement Title]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1828800" y="3419856"/>
            <a:ext cx="8531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5E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TRACK:  [TRK-X  —  Track Name]   |   INSTITUTE:  [Your College Name]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1828800" y="3712464"/>
            <a:ext cx="8531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Members:  [Name 1]  ·  [Name 2]  ·  [Name 3]  ·  [Name 4 — if applicable]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1645920" y="3986784"/>
            <a:ext cx="8897112" cy="54864"/>
          </a:xfrm>
          <a:prstGeom prst="rect">
            <a:avLst/>
          </a:prstGeom>
          <a:solidFill>
            <a:srgbClr val="D4940A"/>
          </a:solidFill>
          <a:ln w="12700">
            <a:solidFill>
              <a:srgbClr val="D4940A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1645920" y="4041648"/>
            <a:ext cx="88971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494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avlokan.acebits.in   |   acebitsindri@gmail.com</a:t>
            </a:r>
            <a:endParaRPr lang="en-US" sz="1100" dirty="0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4663440"/>
            <a:ext cx="256032" cy="25603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41248" y="466344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8 slides filled in completely</a:t>
            </a:r>
            <a:endParaRPr lang="en-US" sz="850" dirty="0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56432" y="4663440"/>
            <a:ext cx="256032" cy="25603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3749040" y="466344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Number &amp; Title correct</a:t>
            </a:r>
            <a:endParaRPr lang="en-US" sz="850" dirty="0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64224" y="4663440"/>
            <a:ext cx="256032" cy="256032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656832" y="466344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diagram inserted on Slide 4</a:t>
            </a:r>
            <a:endParaRPr lang="en-US" sz="850" dirty="0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72016" y="4663440"/>
            <a:ext cx="256032" cy="256032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564624" y="466344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4 team members listed with roll numbers</a:t>
            </a:r>
            <a:endParaRPr lang="en-US" sz="850" dirty="0"/>
          </a:p>
        </p:txBody>
      </p:sp>
      <p:sp>
        <p:nvSpPr>
          <p:cNvPr id="26" name="Shape 18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243860"/>
          </a:solidFill>
          <a:ln w="12700">
            <a:solidFill>
              <a:srgbClr val="243860"/>
            </a:solidFill>
            <a:prstDash val="solid"/>
          </a:ln>
        </p:spPr>
      </p:sp>
      <p:sp>
        <p:nvSpPr>
          <p:cNvPr id="27" name="Shape 19"/>
          <p:cNvSpPr/>
          <p:nvPr/>
        </p:nvSpPr>
        <p:spPr>
          <a:xfrm>
            <a:off x="0" y="6565392"/>
            <a:ext cx="12188952" cy="27432"/>
          </a:xfrm>
          <a:prstGeom prst="rect">
            <a:avLst/>
          </a:prstGeom>
          <a:solidFill>
            <a:srgbClr val="D4940A"/>
          </a:solidFill>
          <a:ln w="12700">
            <a:solidFill>
              <a:srgbClr val="D4940A"/>
            </a:solidFill>
            <a:prstDash val="solid"/>
          </a:ln>
        </p:spPr>
      </p:sp>
      <p:sp>
        <p:nvSpPr>
          <p:cNvPr id="28" name="Text 20"/>
          <p:cNvSpPr/>
          <p:nvPr/>
        </p:nvSpPr>
        <p:spPr>
          <a:xfrm>
            <a:off x="274320" y="6583680"/>
            <a:ext cx="11640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Association of Civil Engineers (ACE), B.I.T. Sindri. All Rights Reserved.  |  AVLOKAN 2026 Hackathon — For Academic and Competitive Use Only.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1832</Words>
  <Application>Microsoft Office PowerPoint</Application>
  <PresentationFormat>Widescreen</PresentationFormat>
  <Paragraphs>252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Arial Black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Association of Civil Engineers, B.I.T. Sindri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AVLOKAN 2026 — Hackathon Round 1 Idea Submission Template</dc:title>
  <dc:subject>Project Idea Submission — AVLOKAN 2026 Hackathon Elimination Round</dc:subject>
  <dc:creator>ACE, B.I.T. Sindri</dc:creator>
  <cp:lastModifiedBy>Acer</cp:lastModifiedBy>
  <cp:revision>4</cp:revision>
  <dcterms:created xsi:type="dcterms:W3CDTF">2026-03-08T19:58:47Z</dcterms:created>
  <dcterms:modified xsi:type="dcterms:W3CDTF">2026-03-08T20:32:49Z</dcterms:modified>
</cp:coreProperties>
</file>